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Urbanist"/>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Urbanis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Urbanist-italic.fntdata"/><Relationship Id="rId6" Type="http://schemas.openxmlformats.org/officeDocument/2006/relationships/slide" Target="slides/slide1.xml"/><Relationship Id="rId18" Type="http://schemas.openxmlformats.org/officeDocument/2006/relationships/font" Target="fonts/Urbanis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d6282064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3ad62820645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d62820645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ad62820645_1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27.png"/><Relationship Id="rId7" Type="http://schemas.openxmlformats.org/officeDocument/2006/relationships/image" Target="../media/image4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8.jpg"/><Relationship Id="rId5" Type="http://schemas.openxmlformats.org/officeDocument/2006/relationships/image" Target="../media/image46.jpg"/><Relationship Id="rId6" Type="http://schemas.openxmlformats.org/officeDocument/2006/relationships/image" Target="../media/image3.png"/><Relationship Id="rId7"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2.png"/><Relationship Id="rId11" Type="http://schemas.openxmlformats.org/officeDocument/2006/relationships/image" Target="../media/image17.png"/><Relationship Id="rId10" Type="http://schemas.openxmlformats.org/officeDocument/2006/relationships/image" Target="../media/image15.png"/><Relationship Id="rId9" Type="http://schemas.openxmlformats.org/officeDocument/2006/relationships/image" Target="../media/image19.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14.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32.png"/><Relationship Id="rId6" Type="http://schemas.openxmlformats.org/officeDocument/2006/relationships/image" Target="../media/image24.png"/><Relationship Id="rId7"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4.png"/><Relationship Id="rId7" Type="http://schemas.openxmlformats.org/officeDocument/2006/relationships/image" Target="../media/image26.png"/><Relationship Id="rId8"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7.jpg"/><Relationship Id="rId5" Type="http://schemas.openxmlformats.org/officeDocument/2006/relationships/image" Target="../media/image45.jpg"/><Relationship Id="rId6" Type="http://schemas.openxmlformats.org/officeDocument/2006/relationships/image" Target="../media/image38.png"/><Relationship Id="rId7" Type="http://schemas.openxmlformats.org/officeDocument/2006/relationships/image" Target="../media/image31.png"/><Relationship Id="rId8"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33.png"/><Relationship Id="rId5" Type="http://schemas.openxmlformats.org/officeDocument/2006/relationships/image" Target="../media/image39.png"/><Relationship Id="rId6" Type="http://schemas.openxmlformats.org/officeDocument/2006/relationships/image" Target="../media/image44.jpg"/><Relationship Id="rId7"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hyperlink" Target="https://github.com/Zachay-NAU/ESPHome-Support-on-Seeed-Studio-XIAO-ESP32S3" TargetMode="External"/><Relationship Id="rId5" Type="http://schemas.openxmlformats.org/officeDocument/2006/relationships/image" Target="../media/image35.png"/><Relationship Id="rId6" Type="http://schemas.openxmlformats.org/officeDocument/2006/relationships/image" Target="../media/image42.png"/><Relationship Id="rId7"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213199" y="2293750"/>
            <a:ext cx="9909900" cy="1745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F5F5F5"/>
                </a:solidFill>
                <a:latin typeface="Urbanist"/>
                <a:ea typeface="Urbanist"/>
                <a:cs typeface="Urbanist"/>
                <a:sym typeface="Urbanist"/>
              </a:rPr>
              <a:t>Smart</a:t>
            </a:r>
            <a:r>
              <a:rPr b="1" i="0" lang="en-US" sz="5400" u="none" cap="none" strike="noStrike">
                <a:solidFill>
                  <a:srgbClr val="FF0000"/>
                </a:solidFill>
                <a:highlight>
                  <a:schemeClr val="dk1"/>
                </a:highlight>
                <a:latin typeface="Urbanist"/>
                <a:ea typeface="Urbanist"/>
                <a:cs typeface="Urbanist"/>
                <a:sym typeface="Urbanist"/>
              </a:rPr>
              <a:t>er</a:t>
            </a:r>
            <a:r>
              <a:rPr b="1" i="0" lang="en-US" sz="5400" u="none" cap="none" strike="noStrike">
                <a:solidFill>
                  <a:srgbClr val="F5F5F5"/>
                </a:solidFill>
                <a:latin typeface="Urbanist"/>
                <a:ea typeface="Urbanist"/>
                <a:cs typeface="Urbanist"/>
                <a:sym typeface="Urbanist"/>
              </a:rPr>
              <a:t> Doorbell:</a:t>
            </a:r>
            <a:br>
              <a:rPr b="0" i="0" lang="en-US" sz="1800" u="none" cap="none" strike="noStrike">
                <a:solidFill>
                  <a:schemeClr val="dk1"/>
                </a:solidFill>
                <a:latin typeface="Calibri"/>
                <a:ea typeface="Calibri"/>
                <a:cs typeface="Calibri"/>
                <a:sym typeface="Calibri"/>
              </a:rPr>
            </a:br>
            <a:r>
              <a:rPr b="1" i="0" lang="en-US" sz="5400" u="none" cap="none" strike="noStrike">
                <a:solidFill>
                  <a:srgbClr val="DEFF9A"/>
                </a:solidFill>
                <a:latin typeface="Urbanist"/>
                <a:ea typeface="Urbanist"/>
                <a:cs typeface="Urbanist"/>
                <a:sym typeface="Urbanist"/>
              </a:rPr>
              <a:t>Edge Computing Resolution</a:t>
            </a:r>
            <a:endParaRPr/>
          </a:p>
        </p:txBody>
      </p:sp>
      <p:sp>
        <p:nvSpPr>
          <p:cNvPr id="86" name="Google Shape;86;p13"/>
          <p:cNvSpPr txBox="1"/>
          <p:nvPr/>
        </p:nvSpPr>
        <p:spPr>
          <a:xfrm>
            <a:off x="3371850" y="4293060"/>
            <a:ext cx="5448300" cy="2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DAFFDE"/>
                </a:solidFill>
                <a:latin typeface="Urbanist"/>
                <a:ea typeface="Urbanist"/>
                <a:cs typeface="Urbanist"/>
                <a:sym typeface="Urbanist"/>
              </a:rPr>
              <a:t>based on ESP32-S3 and Edge Impulse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571500" y="1543050"/>
            <a:ext cx="5238750" cy="4743450"/>
          </a:xfrm>
          <a:prstGeom prst="rect">
            <a:avLst/>
          </a:prstGeom>
          <a:noFill/>
          <a:ln>
            <a:noFill/>
          </a:ln>
        </p:spPr>
      </p:pic>
      <p:pic>
        <p:nvPicPr>
          <p:cNvPr descr="image.png" id="93" name="Google Shape;93;p14"/>
          <p:cNvPicPr preferRelativeResize="0"/>
          <p:nvPr/>
        </p:nvPicPr>
        <p:blipFill rotWithShape="1">
          <a:blip r:embed="rId5">
            <a:alphaModFix/>
          </a:blip>
          <a:srcRect b="0" l="0" r="0" t="0"/>
          <a:stretch/>
        </p:blipFill>
        <p:spPr>
          <a:xfrm>
            <a:off x="6381750" y="1543050"/>
            <a:ext cx="5238750" cy="4743450"/>
          </a:xfrm>
          <a:prstGeom prst="rect">
            <a:avLst/>
          </a:prstGeom>
          <a:noFill/>
          <a:ln>
            <a:noFill/>
          </a:ln>
        </p:spPr>
      </p:pic>
      <p:sp>
        <p:nvSpPr>
          <p:cNvPr id="94" name="Google Shape;94;p14"/>
          <p:cNvSpPr txBox="1"/>
          <p:nvPr/>
        </p:nvSpPr>
        <p:spPr>
          <a:xfrm>
            <a:off x="962025" y="1933575"/>
            <a:ext cx="4680600" cy="369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400">
                <a:solidFill>
                  <a:srgbClr val="DEFF9A"/>
                </a:solidFill>
                <a:latin typeface="Urbanist"/>
                <a:ea typeface="Urbanist"/>
                <a:cs typeface="Urbanist"/>
                <a:sym typeface="Urbanist"/>
              </a:rPr>
              <a:t>QUAN</a:t>
            </a:r>
            <a:endParaRPr/>
          </a:p>
        </p:txBody>
      </p:sp>
      <p:sp>
        <p:nvSpPr>
          <p:cNvPr id="95" name="Google Shape;95;p14"/>
          <p:cNvSpPr txBox="1"/>
          <p:nvPr/>
        </p:nvSpPr>
        <p:spPr>
          <a:xfrm>
            <a:off x="6772275" y="1933575"/>
            <a:ext cx="4680600" cy="369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400">
                <a:solidFill>
                  <a:srgbClr val="DEFF9A"/>
                </a:solidFill>
                <a:latin typeface="Urbanist"/>
                <a:ea typeface="Urbanist"/>
                <a:cs typeface="Urbanist"/>
                <a:sym typeface="Urbanist"/>
              </a:rPr>
              <a:t>SUN (my cat)</a:t>
            </a:r>
            <a:endParaRPr/>
          </a:p>
        </p:txBody>
      </p:sp>
      <p:sp>
        <p:nvSpPr>
          <p:cNvPr id="96" name="Google Shape;96;p14"/>
          <p:cNvSpPr txBox="1"/>
          <p:nvPr/>
        </p:nvSpPr>
        <p:spPr>
          <a:xfrm>
            <a:off x="571500" y="571500"/>
            <a:ext cx="116016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900">
                <a:solidFill>
                  <a:srgbClr val="F5F5F5"/>
                </a:solidFill>
                <a:latin typeface="Urbanist"/>
                <a:ea typeface="Urbanist"/>
                <a:cs typeface="Urbanist"/>
                <a:sym typeface="Urbanist"/>
              </a:rPr>
              <a:t>Team members</a:t>
            </a:r>
            <a:endParaRPr/>
          </a:p>
        </p:txBody>
      </p:sp>
      <p:pic>
        <p:nvPicPr>
          <p:cNvPr id="97" name="Google Shape;97;p14"/>
          <p:cNvPicPr preferRelativeResize="0"/>
          <p:nvPr/>
        </p:nvPicPr>
        <p:blipFill>
          <a:blip r:embed="rId6">
            <a:alphaModFix/>
          </a:blip>
          <a:stretch>
            <a:fillRect/>
          </a:stretch>
        </p:blipFill>
        <p:spPr>
          <a:xfrm>
            <a:off x="7717266" y="3840851"/>
            <a:ext cx="2567709" cy="2508999"/>
          </a:xfrm>
          <a:prstGeom prst="rect">
            <a:avLst/>
          </a:prstGeom>
          <a:noFill/>
          <a:ln>
            <a:noFill/>
          </a:ln>
        </p:spPr>
      </p:pic>
      <p:sp>
        <p:nvSpPr>
          <p:cNvPr id="98" name="Google Shape;98;p14"/>
          <p:cNvSpPr txBox="1"/>
          <p:nvPr/>
        </p:nvSpPr>
        <p:spPr>
          <a:xfrm>
            <a:off x="6772275" y="2457400"/>
            <a:ext cx="44577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00">
                <a:solidFill>
                  <a:srgbClr val="E0E0E0"/>
                </a:solidFill>
                <a:latin typeface="Urbanist"/>
                <a:ea typeface="Urbanist"/>
                <a:cs typeface="Urbanist"/>
                <a:sym typeface="Urbanist"/>
              </a:rPr>
              <a:t>1. Cause Troubles</a:t>
            </a:r>
            <a:endParaRPr sz="1500">
              <a:solidFill>
                <a:srgbClr val="E0E0E0"/>
              </a:solidFill>
              <a:latin typeface="Urbanist"/>
              <a:ea typeface="Urbanist"/>
              <a:cs typeface="Urbanist"/>
              <a:sym typeface="Urbanist"/>
            </a:endParaRPr>
          </a:p>
          <a:p>
            <a:pPr indent="0" lvl="0" marL="0" marR="0" rtl="0" algn="l">
              <a:lnSpc>
                <a:spcPct val="150000"/>
              </a:lnSpc>
              <a:spcBef>
                <a:spcPts val="0"/>
              </a:spcBef>
              <a:spcAft>
                <a:spcPts val="0"/>
              </a:spcAft>
              <a:buNone/>
            </a:pPr>
            <a:r>
              <a:rPr lang="en-US" sz="1500">
                <a:solidFill>
                  <a:srgbClr val="E0E0E0"/>
                </a:solidFill>
                <a:latin typeface="Urbanist"/>
                <a:ea typeface="Urbanist"/>
                <a:cs typeface="Urbanist"/>
                <a:sym typeface="Urbanist"/>
              </a:rPr>
              <a:t>2. Provide training data</a:t>
            </a:r>
            <a:endParaRPr sz="1500">
              <a:solidFill>
                <a:srgbClr val="E0E0E0"/>
              </a:solidFill>
              <a:latin typeface="Urbanist"/>
              <a:ea typeface="Urbanist"/>
              <a:cs typeface="Urbanist"/>
              <a:sym typeface="Urbanist"/>
            </a:endParaRPr>
          </a:p>
        </p:txBody>
      </p:sp>
      <p:sp>
        <p:nvSpPr>
          <p:cNvPr id="99" name="Google Shape;99;p14"/>
          <p:cNvSpPr txBox="1"/>
          <p:nvPr/>
        </p:nvSpPr>
        <p:spPr>
          <a:xfrm>
            <a:off x="962025" y="2457400"/>
            <a:ext cx="4457700" cy="1269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00">
                <a:solidFill>
                  <a:srgbClr val="E0E0E0"/>
                </a:solidFill>
                <a:latin typeface="Urbanist"/>
                <a:ea typeface="Urbanist"/>
                <a:cs typeface="Urbanist"/>
                <a:sym typeface="Urbanist"/>
              </a:rPr>
              <a:t>1. 🛠️ </a:t>
            </a:r>
            <a:r>
              <a:rPr lang="en-US" sz="1500">
                <a:solidFill>
                  <a:srgbClr val="E0E0E0"/>
                </a:solidFill>
                <a:latin typeface="Urbanist"/>
                <a:ea typeface="Urbanist"/>
                <a:cs typeface="Urbanist"/>
                <a:sym typeface="Urbanist"/>
              </a:rPr>
              <a:t>Hardware &amp; Environment Setup</a:t>
            </a:r>
            <a:endParaRPr sz="1500">
              <a:solidFill>
                <a:srgbClr val="E0E0E0"/>
              </a:solidFill>
              <a:latin typeface="Urbanist"/>
              <a:ea typeface="Urbanist"/>
              <a:cs typeface="Urbanist"/>
              <a:sym typeface="Urbanist"/>
            </a:endParaRPr>
          </a:p>
          <a:p>
            <a:pPr indent="0" lvl="0" marL="0" marR="0" rtl="0" algn="l">
              <a:lnSpc>
                <a:spcPct val="150000"/>
              </a:lnSpc>
              <a:spcBef>
                <a:spcPts val="0"/>
              </a:spcBef>
              <a:spcAft>
                <a:spcPts val="0"/>
              </a:spcAft>
              <a:buNone/>
            </a:pPr>
            <a:r>
              <a:rPr lang="en-US" sz="1500">
                <a:solidFill>
                  <a:srgbClr val="E0E0E0"/>
                </a:solidFill>
                <a:latin typeface="Urbanist"/>
                <a:ea typeface="Urbanist"/>
                <a:cs typeface="Urbanist"/>
                <a:sym typeface="Urbanist"/>
              </a:rPr>
              <a:t>2. 🧠 </a:t>
            </a:r>
            <a:r>
              <a:rPr lang="en-US" sz="1500">
                <a:solidFill>
                  <a:srgbClr val="E0E0E0"/>
                </a:solidFill>
                <a:latin typeface="Urbanist"/>
                <a:ea typeface="Urbanist"/>
                <a:cs typeface="Urbanist"/>
                <a:sym typeface="Urbanist"/>
              </a:rPr>
              <a:t>tinyML Model Development</a:t>
            </a:r>
            <a:endParaRPr sz="1500">
              <a:solidFill>
                <a:srgbClr val="E0E0E0"/>
              </a:solidFill>
              <a:latin typeface="Urbanist"/>
              <a:ea typeface="Urbanist"/>
              <a:cs typeface="Urbanist"/>
              <a:sym typeface="Urbanist"/>
            </a:endParaRPr>
          </a:p>
          <a:p>
            <a:pPr indent="0" lvl="0" marL="0" marR="0" rtl="0" algn="l">
              <a:lnSpc>
                <a:spcPct val="150000"/>
              </a:lnSpc>
              <a:spcBef>
                <a:spcPts val="0"/>
              </a:spcBef>
              <a:spcAft>
                <a:spcPts val="0"/>
              </a:spcAft>
              <a:buNone/>
            </a:pPr>
            <a:r>
              <a:rPr lang="en-US" sz="1500">
                <a:solidFill>
                  <a:srgbClr val="E0E0E0"/>
                </a:solidFill>
                <a:latin typeface="Urbanist"/>
                <a:ea typeface="Urbanist"/>
                <a:cs typeface="Urbanist"/>
                <a:sym typeface="Urbanist"/>
              </a:rPr>
              <a:t>3. 💻  Edge Deployment &amp; Integration</a:t>
            </a:r>
            <a:endParaRPr sz="1500">
              <a:solidFill>
                <a:srgbClr val="E0E0E0"/>
              </a:solidFill>
              <a:latin typeface="Urbanist"/>
              <a:ea typeface="Urbanist"/>
              <a:cs typeface="Urbanist"/>
              <a:sym typeface="Urbanist"/>
            </a:endParaRPr>
          </a:p>
          <a:p>
            <a:pPr indent="0" lvl="0" marL="0" marR="0" rtl="0" algn="l">
              <a:lnSpc>
                <a:spcPct val="150000"/>
              </a:lnSpc>
              <a:spcBef>
                <a:spcPts val="0"/>
              </a:spcBef>
              <a:spcAft>
                <a:spcPts val="0"/>
              </a:spcAft>
              <a:buNone/>
            </a:pPr>
            <a:r>
              <a:rPr lang="en-US" sz="1500">
                <a:solidFill>
                  <a:srgbClr val="E0E0E0"/>
                </a:solidFill>
                <a:latin typeface="Urbanist"/>
                <a:ea typeface="Urbanist"/>
                <a:cs typeface="Urbanist"/>
                <a:sym typeface="Urbanist"/>
              </a:rPr>
              <a:t>4. ✅  Testing &amp; Finalization</a:t>
            </a:r>
            <a:endParaRPr sz="1500">
              <a:solidFill>
                <a:srgbClr val="E0E0E0"/>
              </a:solidFill>
              <a:latin typeface="Urbanist"/>
              <a:ea typeface="Urbanist"/>
              <a:cs typeface="Urbanist"/>
              <a:sym typeface="Urbanist"/>
            </a:endParaRPr>
          </a:p>
        </p:txBody>
      </p:sp>
      <p:pic>
        <p:nvPicPr>
          <p:cNvPr id="100" name="Google Shape;100;p14"/>
          <p:cNvPicPr preferRelativeResize="0"/>
          <p:nvPr/>
        </p:nvPicPr>
        <p:blipFill rotWithShape="1">
          <a:blip r:embed="rId7">
            <a:alphaModFix/>
          </a:blip>
          <a:srcRect b="10255" l="0" r="0" t="14888"/>
          <a:stretch/>
        </p:blipFill>
        <p:spPr>
          <a:xfrm>
            <a:off x="1662925" y="3881825"/>
            <a:ext cx="2431376" cy="24270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4" name="Shape 104"/>
        <p:cNvGrpSpPr/>
        <p:nvPr/>
      </p:nvGrpSpPr>
      <p:grpSpPr>
        <a:xfrm>
          <a:off x="0" y="0"/>
          <a:ext cx="0" cy="0"/>
          <a:chOff x="0" y="0"/>
          <a:chExt cx="0" cy="0"/>
        </a:xfrm>
      </p:grpSpPr>
      <p:sp>
        <p:nvSpPr>
          <p:cNvPr id="105" name="Google Shape;105;p15"/>
          <p:cNvSpPr txBox="1"/>
          <p:nvPr/>
        </p:nvSpPr>
        <p:spPr>
          <a:xfrm>
            <a:off x="904875" y="1386125"/>
            <a:ext cx="4905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High Performance:</a:t>
            </a:r>
            <a:r>
              <a:rPr b="0" i="0" lang="en-US" sz="1500" u="none" cap="none" strike="noStrike">
                <a:solidFill>
                  <a:srgbClr val="E0E0E0"/>
                </a:solidFill>
                <a:latin typeface="Urbanist"/>
                <a:ea typeface="Urbanist"/>
                <a:cs typeface="Urbanist"/>
                <a:sym typeface="Urbanist"/>
              </a:rPr>
              <a:t> Achieved 30+ FPS for real-time face detection using standard OpenCV libraries.</a:t>
            </a:r>
            <a:endParaRPr/>
          </a:p>
        </p:txBody>
      </p:sp>
      <p:sp>
        <p:nvSpPr>
          <p:cNvPr id="106" name="Google Shape;106;p15"/>
          <p:cNvSpPr txBox="1"/>
          <p:nvPr/>
        </p:nvSpPr>
        <p:spPr>
          <a:xfrm>
            <a:off x="904875" y="2148125"/>
            <a:ext cx="4905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Ease of Development:</a:t>
            </a:r>
            <a:r>
              <a:rPr b="0" i="0" lang="en-US" sz="1500" u="none" cap="none" strike="noStrike">
                <a:solidFill>
                  <a:srgbClr val="E0E0E0"/>
                </a:solidFill>
                <a:latin typeface="Urbanist"/>
                <a:ea typeface="Urbanist"/>
                <a:cs typeface="Urbanist"/>
                <a:sym typeface="Urbanist"/>
              </a:rPr>
              <a:t> Python environment allowed for rapid iteration and testing of complex models.</a:t>
            </a:r>
            <a:endParaRPr/>
          </a:p>
        </p:txBody>
      </p:sp>
      <p:sp>
        <p:nvSpPr>
          <p:cNvPr id="107" name="Google Shape;107;p15"/>
          <p:cNvSpPr txBox="1"/>
          <p:nvPr/>
        </p:nvSpPr>
        <p:spPr>
          <a:xfrm>
            <a:off x="571500" y="571500"/>
            <a:ext cx="116016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900" u="none" cap="none" strike="noStrike">
                <a:solidFill>
                  <a:srgbClr val="F5F5F5"/>
                </a:solidFill>
                <a:latin typeface="Urbanist"/>
                <a:ea typeface="Urbanist"/>
                <a:cs typeface="Urbanist"/>
                <a:sym typeface="Urbanist"/>
              </a:rPr>
              <a:t>Results: Raspberry Pi 5 Based Smart Doorbell </a:t>
            </a:r>
            <a:endParaRPr/>
          </a:p>
        </p:txBody>
      </p:sp>
      <p:pic>
        <p:nvPicPr>
          <p:cNvPr descr="image.png" id="108" name="Google Shape;108;p15"/>
          <p:cNvPicPr preferRelativeResize="0"/>
          <p:nvPr/>
        </p:nvPicPr>
        <p:blipFill rotWithShape="1">
          <a:blip r:embed="rId3">
            <a:alphaModFix/>
          </a:blip>
          <a:srcRect b="0" l="0" r="0" t="0"/>
          <a:stretch/>
        </p:blipFill>
        <p:spPr>
          <a:xfrm>
            <a:off x="571500" y="1424225"/>
            <a:ext cx="190500" cy="200025"/>
          </a:xfrm>
          <a:prstGeom prst="rect">
            <a:avLst/>
          </a:prstGeom>
          <a:noFill/>
          <a:ln>
            <a:noFill/>
          </a:ln>
        </p:spPr>
      </p:pic>
      <p:pic>
        <p:nvPicPr>
          <p:cNvPr descr="image.png" id="109" name="Google Shape;109;p15"/>
          <p:cNvPicPr preferRelativeResize="0"/>
          <p:nvPr/>
        </p:nvPicPr>
        <p:blipFill rotWithShape="1">
          <a:blip r:embed="rId3">
            <a:alphaModFix/>
          </a:blip>
          <a:srcRect b="0" l="0" r="0" t="0"/>
          <a:stretch/>
        </p:blipFill>
        <p:spPr>
          <a:xfrm>
            <a:off x="571500" y="2186225"/>
            <a:ext cx="190500" cy="200025"/>
          </a:xfrm>
          <a:prstGeom prst="rect">
            <a:avLst/>
          </a:prstGeom>
          <a:noFill/>
          <a:ln>
            <a:noFill/>
          </a:ln>
        </p:spPr>
      </p:pic>
      <p:pic>
        <p:nvPicPr>
          <p:cNvPr id="110" name="Google Shape;110;p15"/>
          <p:cNvPicPr preferRelativeResize="0"/>
          <p:nvPr/>
        </p:nvPicPr>
        <p:blipFill rotWithShape="1">
          <a:blip r:embed="rId4">
            <a:alphaModFix/>
          </a:blip>
          <a:srcRect b="0" l="17409" r="23496" t="0"/>
          <a:stretch/>
        </p:blipFill>
        <p:spPr>
          <a:xfrm rot="-5400000">
            <a:off x="1691775" y="2773758"/>
            <a:ext cx="2209926" cy="4987026"/>
          </a:xfrm>
          <a:prstGeom prst="rect">
            <a:avLst/>
          </a:prstGeom>
          <a:noFill/>
          <a:ln>
            <a:noFill/>
          </a:ln>
        </p:spPr>
      </p:pic>
      <p:pic>
        <p:nvPicPr>
          <p:cNvPr id="111" name="Google Shape;111;p15"/>
          <p:cNvPicPr preferRelativeResize="0"/>
          <p:nvPr/>
        </p:nvPicPr>
        <p:blipFill rotWithShape="1">
          <a:blip r:embed="rId5">
            <a:alphaModFix/>
          </a:blip>
          <a:srcRect b="5367" l="12348" r="21544" t="19670"/>
          <a:stretch/>
        </p:blipFill>
        <p:spPr>
          <a:xfrm>
            <a:off x="5365043" y="4161812"/>
            <a:ext cx="1461907" cy="2210949"/>
          </a:xfrm>
          <a:prstGeom prst="rect">
            <a:avLst/>
          </a:prstGeom>
          <a:noFill/>
          <a:ln>
            <a:noFill/>
          </a:ln>
        </p:spPr>
      </p:pic>
      <p:pic>
        <p:nvPicPr>
          <p:cNvPr id="112" name="Google Shape;112;p15"/>
          <p:cNvPicPr preferRelativeResize="0"/>
          <p:nvPr/>
        </p:nvPicPr>
        <p:blipFill>
          <a:blip r:embed="rId6">
            <a:alphaModFix/>
          </a:blip>
          <a:stretch>
            <a:fillRect/>
          </a:stretch>
        </p:blipFill>
        <p:spPr>
          <a:xfrm>
            <a:off x="6901750" y="1239175"/>
            <a:ext cx="5290250" cy="2628719"/>
          </a:xfrm>
          <a:prstGeom prst="rect">
            <a:avLst/>
          </a:prstGeom>
          <a:noFill/>
          <a:ln>
            <a:noFill/>
          </a:ln>
        </p:spPr>
      </p:pic>
      <p:pic>
        <p:nvPicPr>
          <p:cNvPr id="113" name="Google Shape;113;p15"/>
          <p:cNvPicPr preferRelativeResize="0"/>
          <p:nvPr/>
        </p:nvPicPr>
        <p:blipFill>
          <a:blip r:embed="rId7">
            <a:alphaModFix/>
          </a:blip>
          <a:stretch>
            <a:fillRect/>
          </a:stretch>
        </p:blipFill>
        <p:spPr>
          <a:xfrm>
            <a:off x="6901749" y="4161801"/>
            <a:ext cx="5290251" cy="2655174"/>
          </a:xfrm>
          <a:prstGeom prst="rect">
            <a:avLst/>
          </a:prstGeom>
          <a:noFill/>
          <a:ln>
            <a:noFill/>
          </a:ln>
        </p:spPr>
      </p:pic>
      <p:sp>
        <p:nvSpPr>
          <p:cNvPr id="114" name="Google Shape;114;p15"/>
          <p:cNvSpPr txBox="1"/>
          <p:nvPr/>
        </p:nvSpPr>
        <p:spPr>
          <a:xfrm>
            <a:off x="904875" y="2851800"/>
            <a:ext cx="4905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500">
                <a:solidFill>
                  <a:srgbClr val="E0E0E0"/>
                </a:solidFill>
                <a:latin typeface="Urbanist"/>
                <a:ea typeface="Urbanist"/>
                <a:cs typeface="Urbanist"/>
                <a:sym typeface="Urbanist"/>
              </a:rPr>
              <a:t>Successful Recognition</a:t>
            </a:r>
            <a:r>
              <a:rPr b="1" i="0" lang="en-US" sz="1500" u="none" cap="none" strike="noStrike">
                <a:solidFill>
                  <a:srgbClr val="E0E0E0"/>
                </a:solidFill>
                <a:latin typeface="Urbanist"/>
                <a:ea typeface="Urbanist"/>
                <a:cs typeface="Urbanist"/>
                <a:sym typeface="Urbanist"/>
              </a:rPr>
              <a:t>:</a:t>
            </a:r>
            <a:r>
              <a:rPr b="0" i="0" lang="en-US" sz="1500" u="none" cap="none" strike="noStrike">
                <a:solidFill>
                  <a:srgbClr val="E0E0E0"/>
                </a:solidFill>
                <a:latin typeface="Urbanist"/>
                <a:ea typeface="Urbanist"/>
                <a:cs typeface="Urbanist"/>
                <a:sym typeface="Urbanist"/>
              </a:rPr>
              <a:t> </a:t>
            </a:r>
            <a:r>
              <a:rPr lang="en-US" sz="1500">
                <a:solidFill>
                  <a:srgbClr val="E0E0E0"/>
                </a:solidFill>
                <a:latin typeface="Urbanist"/>
                <a:ea typeface="Urbanist"/>
                <a:cs typeface="Urbanist"/>
                <a:sym typeface="Urbanist"/>
              </a:rPr>
              <a:t>In real environment test, it successfully recognized me, my cat and strangers.</a:t>
            </a:r>
            <a:endParaRPr/>
          </a:p>
        </p:txBody>
      </p:sp>
      <p:pic>
        <p:nvPicPr>
          <p:cNvPr descr="image.png" id="115" name="Google Shape;115;p15"/>
          <p:cNvPicPr preferRelativeResize="0"/>
          <p:nvPr/>
        </p:nvPicPr>
        <p:blipFill rotWithShape="1">
          <a:blip r:embed="rId3">
            <a:alphaModFix/>
          </a:blip>
          <a:srcRect b="0" l="0" r="0" t="0"/>
          <a:stretch/>
        </p:blipFill>
        <p:spPr>
          <a:xfrm>
            <a:off x="571500" y="2889900"/>
            <a:ext cx="190500" cy="20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9" name="Shape 119"/>
        <p:cNvGrpSpPr/>
        <p:nvPr/>
      </p:nvGrpSpPr>
      <p:grpSpPr>
        <a:xfrm>
          <a:off x="0" y="0"/>
          <a:ext cx="0" cy="0"/>
          <a:chOff x="0" y="0"/>
          <a:chExt cx="0" cy="0"/>
        </a:xfrm>
      </p:grpSpPr>
      <p:pic>
        <p:nvPicPr>
          <p:cNvPr descr="image.png" id="120" name="Google Shape;120;p16"/>
          <p:cNvPicPr preferRelativeResize="0"/>
          <p:nvPr/>
        </p:nvPicPr>
        <p:blipFill rotWithShape="1">
          <a:blip r:embed="rId3">
            <a:alphaModFix/>
          </a:blip>
          <a:srcRect b="0" l="0" r="0" t="0"/>
          <a:stretch/>
        </p:blipFill>
        <p:spPr>
          <a:xfrm>
            <a:off x="104050" y="2088125"/>
            <a:ext cx="2174150" cy="3701975"/>
          </a:xfrm>
          <a:prstGeom prst="rect">
            <a:avLst/>
          </a:prstGeom>
          <a:noFill/>
          <a:ln>
            <a:noFill/>
          </a:ln>
        </p:spPr>
      </p:pic>
      <p:pic>
        <p:nvPicPr>
          <p:cNvPr descr="image.png" id="121" name="Google Shape;121;p16"/>
          <p:cNvPicPr preferRelativeResize="0"/>
          <p:nvPr/>
        </p:nvPicPr>
        <p:blipFill rotWithShape="1">
          <a:blip r:embed="rId4">
            <a:alphaModFix/>
          </a:blip>
          <a:srcRect b="0" l="0" r="0" t="0"/>
          <a:stretch/>
        </p:blipFill>
        <p:spPr>
          <a:xfrm>
            <a:off x="2391091" y="2088125"/>
            <a:ext cx="2174150" cy="3701975"/>
          </a:xfrm>
          <a:prstGeom prst="rect">
            <a:avLst/>
          </a:prstGeom>
          <a:noFill/>
          <a:ln>
            <a:noFill/>
          </a:ln>
        </p:spPr>
      </p:pic>
      <p:sp>
        <p:nvSpPr>
          <p:cNvPr id="122" name="Google Shape;122;p16"/>
          <p:cNvSpPr txBox="1"/>
          <p:nvPr/>
        </p:nvSpPr>
        <p:spPr>
          <a:xfrm>
            <a:off x="408831" y="2392906"/>
            <a:ext cx="1902300" cy="288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873" u="none" cap="none" strike="noStrike">
                <a:solidFill>
                  <a:srgbClr val="DEFF9A"/>
                </a:solidFill>
                <a:latin typeface="Urbanist"/>
                <a:ea typeface="Urbanist"/>
                <a:cs typeface="Urbanist"/>
                <a:sym typeface="Urbanist"/>
              </a:rPr>
              <a:t>Power &amp; Heat</a:t>
            </a:r>
            <a:endParaRPr sz="1092"/>
          </a:p>
        </p:txBody>
      </p:sp>
      <p:sp>
        <p:nvSpPr>
          <p:cNvPr id="123" name="Google Shape;123;p16"/>
          <p:cNvSpPr txBox="1"/>
          <p:nvPr/>
        </p:nvSpPr>
        <p:spPr>
          <a:xfrm>
            <a:off x="408831" y="2898397"/>
            <a:ext cx="1696200" cy="2342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170" u="none" cap="none" strike="noStrike">
                <a:solidFill>
                  <a:srgbClr val="E0E0E0"/>
                </a:solidFill>
                <a:latin typeface="Urbanist"/>
                <a:ea typeface="Urbanist"/>
                <a:cs typeface="Urbanist"/>
                <a:sym typeface="Urbanist"/>
              </a:rPr>
              <a:t>The Pi 5 is power-hungry, requiring a 5V/3A+ active supply. It cannot run on standard batteries for long, making wireless installation impossible. Active cooling is also required to prevent throttling.</a:t>
            </a:r>
            <a:endParaRPr sz="1092"/>
          </a:p>
        </p:txBody>
      </p:sp>
      <p:sp>
        <p:nvSpPr>
          <p:cNvPr id="124" name="Google Shape;124;p16"/>
          <p:cNvSpPr txBox="1"/>
          <p:nvPr/>
        </p:nvSpPr>
        <p:spPr>
          <a:xfrm>
            <a:off x="2663171" y="2392906"/>
            <a:ext cx="1902300" cy="288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873">
                <a:solidFill>
                  <a:srgbClr val="DEFF9A"/>
                </a:solidFill>
                <a:latin typeface="Urbanist"/>
                <a:ea typeface="Urbanist"/>
                <a:cs typeface="Urbanist"/>
                <a:sym typeface="Urbanist"/>
              </a:rPr>
              <a:t>High </a:t>
            </a:r>
            <a:r>
              <a:rPr b="1" i="0" lang="en-US" sz="1873" u="none" cap="none" strike="noStrike">
                <a:solidFill>
                  <a:srgbClr val="DEFF9A"/>
                </a:solidFill>
                <a:latin typeface="Urbanist"/>
                <a:ea typeface="Urbanist"/>
                <a:cs typeface="Urbanist"/>
                <a:sym typeface="Urbanist"/>
              </a:rPr>
              <a:t>Cost</a:t>
            </a:r>
            <a:endParaRPr sz="1092"/>
          </a:p>
        </p:txBody>
      </p:sp>
      <p:sp>
        <p:nvSpPr>
          <p:cNvPr id="125" name="Google Shape;125;p16"/>
          <p:cNvSpPr txBox="1"/>
          <p:nvPr/>
        </p:nvSpPr>
        <p:spPr>
          <a:xfrm>
            <a:off x="2695873" y="2898397"/>
            <a:ext cx="1534500" cy="2342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170" u="none" cap="none" strike="noStrike">
                <a:solidFill>
                  <a:srgbClr val="E0E0E0"/>
                </a:solidFill>
                <a:latin typeface="Urbanist"/>
                <a:ea typeface="Urbanist"/>
                <a:cs typeface="Urbanist"/>
                <a:sym typeface="Urbanist"/>
              </a:rPr>
              <a:t>At ~$</a:t>
            </a:r>
            <a:r>
              <a:rPr lang="en-US" sz="1170">
                <a:solidFill>
                  <a:srgbClr val="E0E0E0"/>
                </a:solidFill>
                <a:latin typeface="Urbanist"/>
                <a:ea typeface="Urbanist"/>
                <a:cs typeface="Urbanist"/>
                <a:sym typeface="Urbanist"/>
              </a:rPr>
              <a:t>10</a:t>
            </a:r>
            <a:r>
              <a:rPr b="0" i="0" lang="en-US" sz="1170" u="none" cap="none" strike="noStrike">
                <a:solidFill>
                  <a:srgbClr val="E0E0E0"/>
                </a:solidFill>
                <a:latin typeface="Urbanist"/>
                <a:ea typeface="Urbanist"/>
                <a:cs typeface="Urbanist"/>
                <a:sym typeface="Urbanist"/>
              </a:rPr>
              <a:t>0, the unit cost is prohibitive for a scalable IoT product. Additionally, the full Linux OS boot time (20-30s) prevents "instant-on" capture when a visitor presses the button.</a:t>
            </a:r>
            <a:endParaRPr sz="1092"/>
          </a:p>
        </p:txBody>
      </p:sp>
      <p:sp>
        <p:nvSpPr>
          <p:cNvPr id="126" name="Google Shape;126;p16"/>
          <p:cNvSpPr txBox="1"/>
          <p:nvPr/>
        </p:nvSpPr>
        <p:spPr>
          <a:xfrm>
            <a:off x="571500" y="511425"/>
            <a:ext cx="116016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900" u="none" cap="none" strike="noStrike">
                <a:solidFill>
                  <a:srgbClr val="F5F5F5"/>
                </a:solidFill>
                <a:latin typeface="Urbanist"/>
                <a:ea typeface="Urbanist"/>
                <a:cs typeface="Urbanist"/>
                <a:sym typeface="Urbanist"/>
              </a:rPr>
              <a:t>Bottlenecks: The Pi 5 Approach</a:t>
            </a:r>
            <a:endParaRPr/>
          </a:p>
        </p:txBody>
      </p:sp>
      <p:pic>
        <p:nvPicPr>
          <p:cNvPr descr="image.png" id="127" name="Google Shape;127;p16"/>
          <p:cNvPicPr preferRelativeResize="0"/>
          <p:nvPr/>
        </p:nvPicPr>
        <p:blipFill rotWithShape="1">
          <a:blip r:embed="rId3">
            <a:alphaModFix/>
          </a:blip>
          <a:srcRect b="0" l="0" r="0" t="0"/>
          <a:stretch/>
        </p:blipFill>
        <p:spPr>
          <a:xfrm>
            <a:off x="4699282" y="2088125"/>
            <a:ext cx="2174150" cy="3701975"/>
          </a:xfrm>
          <a:prstGeom prst="rect">
            <a:avLst/>
          </a:prstGeom>
          <a:noFill/>
          <a:ln>
            <a:noFill/>
          </a:ln>
        </p:spPr>
      </p:pic>
      <p:pic>
        <p:nvPicPr>
          <p:cNvPr descr="image.png" id="128" name="Google Shape;128;p16"/>
          <p:cNvPicPr preferRelativeResize="0"/>
          <p:nvPr/>
        </p:nvPicPr>
        <p:blipFill rotWithShape="1">
          <a:blip r:embed="rId4">
            <a:alphaModFix/>
          </a:blip>
          <a:srcRect b="0" l="0" r="0" t="0"/>
          <a:stretch/>
        </p:blipFill>
        <p:spPr>
          <a:xfrm>
            <a:off x="7007474" y="2088125"/>
            <a:ext cx="2174150" cy="3701975"/>
          </a:xfrm>
          <a:prstGeom prst="rect">
            <a:avLst/>
          </a:prstGeom>
          <a:noFill/>
          <a:ln>
            <a:noFill/>
          </a:ln>
        </p:spPr>
      </p:pic>
      <p:sp>
        <p:nvSpPr>
          <p:cNvPr id="129" name="Google Shape;129;p16"/>
          <p:cNvSpPr txBox="1"/>
          <p:nvPr/>
        </p:nvSpPr>
        <p:spPr>
          <a:xfrm>
            <a:off x="5004064" y="2392906"/>
            <a:ext cx="1902300" cy="288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873">
                <a:solidFill>
                  <a:srgbClr val="DEFF9A"/>
                </a:solidFill>
                <a:latin typeface="Urbanist"/>
                <a:ea typeface="Urbanist"/>
                <a:cs typeface="Urbanist"/>
                <a:sym typeface="Urbanist"/>
              </a:rPr>
              <a:t>Large Size</a:t>
            </a:r>
            <a:endParaRPr sz="1092"/>
          </a:p>
        </p:txBody>
      </p:sp>
      <p:sp>
        <p:nvSpPr>
          <p:cNvPr id="130" name="Google Shape;130;p16"/>
          <p:cNvSpPr txBox="1"/>
          <p:nvPr/>
        </p:nvSpPr>
        <p:spPr>
          <a:xfrm>
            <a:off x="5004064" y="2898397"/>
            <a:ext cx="1696200" cy="153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170">
                <a:solidFill>
                  <a:srgbClr val="E0E0E0"/>
                </a:solidFill>
                <a:latin typeface="Urbanist"/>
                <a:ea typeface="Urbanist"/>
                <a:cs typeface="Urbanist"/>
                <a:sym typeface="Urbanist"/>
              </a:rPr>
              <a:t>The whole device size could be 100x100x65 mm since it have the extension board of the ink screen, m2 ssd, cooling fan and batteries</a:t>
            </a:r>
            <a:endParaRPr sz="1092"/>
          </a:p>
        </p:txBody>
      </p:sp>
      <p:sp>
        <p:nvSpPr>
          <p:cNvPr id="131" name="Google Shape;131;p16"/>
          <p:cNvSpPr txBox="1"/>
          <p:nvPr/>
        </p:nvSpPr>
        <p:spPr>
          <a:xfrm>
            <a:off x="7279553" y="2392906"/>
            <a:ext cx="1902300" cy="288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873">
                <a:solidFill>
                  <a:srgbClr val="DEFF9A"/>
                </a:solidFill>
                <a:latin typeface="Urbanist"/>
                <a:ea typeface="Urbanist"/>
                <a:cs typeface="Urbanist"/>
                <a:sym typeface="Urbanist"/>
              </a:rPr>
              <a:t>To be Hacked</a:t>
            </a:r>
            <a:endParaRPr sz="1092"/>
          </a:p>
        </p:txBody>
      </p:sp>
      <p:sp>
        <p:nvSpPr>
          <p:cNvPr id="132" name="Google Shape;132;p16"/>
          <p:cNvSpPr txBox="1"/>
          <p:nvPr/>
        </p:nvSpPr>
        <p:spPr>
          <a:xfrm>
            <a:off x="7312255" y="2898397"/>
            <a:ext cx="1534500" cy="1801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170">
                <a:solidFill>
                  <a:srgbClr val="E0E0E0"/>
                </a:solidFill>
                <a:latin typeface="Urbanist"/>
                <a:ea typeface="Urbanist"/>
                <a:cs typeface="Urbanist"/>
                <a:sym typeface="Urbanist"/>
              </a:rPr>
              <a:t>It can be hacked because the whole system was running on the linux system and we exposed the interfaces of HDMI and usb.</a:t>
            </a:r>
            <a:endParaRPr sz="1092"/>
          </a:p>
        </p:txBody>
      </p:sp>
      <p:pic>
        <p:nvPicPr>
          <p:cNvPr id="133" name="Google Shape;133;p16"/>
          <p:cNvPicPr preferRelativeResize="0"/>
          <p:nvPr/>
        </p:nvPicPr>
        <p:blipFill>
          <a:blip r:embed="rId5">
            <a:alphaModFix/>
          </a:blip>
          <a:stretch>
            <a:fillRect/>
          </a:stretch>
        </p:blipFill>
        <p:spPr>
          <a:xfrm>
            <a:off x="8636750" y="107400"/>
            <a:ext cx="3377801" cy="1844476"/>
          </a:xfrm>
          <a:prstGeom prst="rect">
            <a:avLst/>
          </a:prstGeom>
          <a:noFill/>
          <a:ln>
            <a:noFill/>
          </a:ln>
        </p:spPr>
      </p:pic>
      <p:pic>
        <p:nvPicPr>
          <p:cNvPr id="134" name="Google Shape;134;p16"/>
          <p:cNvPicPr preferRelativeResize="0"/>
          <p:nvPr/>
        </p:nvPicPr>
        <p:blipFill>
          <a:blip r:embed="rId6">
            <a:alphaModFix/>
          </a:blip>
          <a:stretch>
            <a:fillRect/>
          </a:stretch>
        </p:blipFill>
        <p:spPr>
          <a:xfrm>
            <a:off x="9282725" y="2209250"/>
            <a:ext cx="2787721" cy="23424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8" name="Shape 138"/>
        <p:cNvGrpSpPr/>
        <p:nvPr/>
      </p:nvGrpSpPr>
      <p:grpSpPr>
        <a:xfrm>
          <a:off x="0" y="0"/>
          <a:ext cx="0" cy="0"/>
          <a:chOff x="0" y="0"/>
          <a:chExt cx="0" cy="0"/>
        </a:xfrm>
      </p:grpSpPr>
      <p:pic>
        <p:nvPicPr>
          <p:cNvPr descr="image.png" id="139" name="Google Shape;139;p17"/>
          <p:cNvPicPr preferRelativeResize="0"/>
          <p:nvPr/>
        </p:nvPicPr>
        <p:blipFill rotWithShape="1">
          <a:blip r:embed="rId3">
            <a:alphaModFix/>
          </a:blip>
          <a:srcRect b="0" l="0" r="0" t="0"/>
          <a:stretch/>
        </p:blipFill>
        <p:spPr>
          <a:xfrm>
            <a:off x="571500" y="2128837"/>
            <a:ext cx="3492549" cy="3571875"/>
          </a:xfrm>
          <a:prstGeom prst="rect">
            <a:avLst/>
          </a:prstGeom>
          <a:noFill/>
          <a:ln>
            <a:noFill/>
          </a:ln>
        </p:spPr>
      </p:pic>
      <p:pic>
        <p:nvPicPr>
          <p:cNvPr descr="image.png" id="140" name="Google Shape;140;p17"/>
          <p:cNvPicPr preferRelativeResize="0"/>
          <p:nvPr/>
        </p:nvPicPr>
        <p:blipFill rotWithShape="1">
          <a:blip r:embed="rId4">
            <a:alphaModFix/>
          </a:blip>
          <a:srcRect b="0" l="0" r="0" t="0"/>
          <a:stretch/>
        </p:blipFill>
        <p:spPr>
          <a:xfrm>
            <a:off x="4349799" y="2128837"/>
            <a:ext cx="3492549" cy="3571875"/>
          </a:xfrm>
          <a:prstGeom prst="rect">
            <a:avLst/>
          </a:prstGeom>
          <a:noFill/>
          <a:ln>
            <a:noFill/>
          </a:ln>
        </p:spPr>
      </p:pic>
      <p:pic>
        <p:nvPicPr>
          <p:cNvPr descr="image.png" id="141" name="Google Shape;141;p17"/>
          <p:cNvPicPr preferRelativeResize="0"/>
          <p:nvPr/>
        </p:nvPicPr>
        <p:blipFill rotWithShape="1">
          <a:blip r:embed="rId5">
            <a:alphaModFix/>
          </a:blip>
          <a:srcRect b="0" l="0" r="0" t="0"/>
          <a:stretch/>
        </p:blipFill>
        <p:spPr>
          <a:xfrm>
            <a:off x="8128099" y="2128837"/>
            <a:ext cx="3492549" cy="3571875"/>
          </a:xfrm>
          <a:prstGeom prst="rect">
            <a:avLst/>
          </a:prstGeom>
          <a:noFill/>
          <a:ln>
            <a:noFill/>
          </a:ln>
        </p:spPr>
      </p:pic>
      <p:pic>
        <p:nvPicPr>
          <p:cNvPr descr="image.png" id="142" name="Google Shape;142;p17"/>
          <p:cNvPicPr preferRelativeResize="0"/>
          <p:nvPr/>
        </p:nvPicPr>
        <p:blipFill rotWithShape="1">
          <a:blip r:embed="rId6">
            <a:alphaModFix/>
          </a:blip>
          <a:srcRect b="0" l="0" r="0" t="0"/>
          <a:stretch/>
        </p:blipFill>
        <p:spPr>
          <a:xfrm>
            <a:off x="1984325" y="2424112"/>
            <a:ext cx="666750" cy="666750"/>
          </a:xfrm>
          <a:prstGeom prst="rect">
            <a:avLst/>
          </a:prstGeom>
          <a:noFill/>
          <a:ln>
            <a:noFill/>
          </a:ln>
        </p:spPr>
      </p:pic>
      <p:sp>
        <p:nvSpPr>
          <p:cNvPr id="143" name="Google Shape;143;p17"/>
          <p:cNvSpPr txBox="1"/>
          <p:nvPr/>
        </p:nvSpPr>
        <p:spPr>
          <a:xfrm>
            <a:off x="1167556" y="3281362"/>
            <a:ext cx="2300287" cy="45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2400" u="none" cap="none" strike="noStrike">
                <a:solidFill>
                  <a:srgbClr val="DEFF9A"/>
                </a:solidFill>
                <a:latin typeface="Urbanist"/>
                <a:ea typeface="Urbanist"/>
                <a:cs typeface="Urbanist"/>
                <a:sym typeface="Urbanist"/>
              </a:rPr>
              <a:t>Energy Efficient</a:t>
            </a:r>
            <a:endParaRPr/>
          </a:p>
        </p:txBody>
      </p:sp>
      <p:sp>
        <p:nvSpPr>
          <p:cNvPr id="144" name="Google Shape;144;p17"/>
          <p:cNvSpPr txBox="1"/>
          <p:nvPr/>
        </p:nvSpPr>
        <p:spPr>
          <a:xfrm>
            <a:off x="866775" y="4071937"/>
            <a:ext cx="2901999" cy="114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E0E0E0"/>
                </a:solidFill>
                <a:latin typeface="Urbanist"/>
                <a:ea typeface="Urbanist"/>
                <a:cs typeface="Urbanist"/>
                <a:sym typeface="Urbanist"/>
              </a:rPr>
              <a:t>Microcontrollers consume milliwatts, allowing for months of operation on a single battery charge.</a:t>
            </a:r>
            <a:endParaRPr/>
          </a:p>
        </p:txBody>
      </p:sp>
      <p:pic>
        <p:nvPicPr>
          <p:cNvPr descr="image.png" id="145" name="Google Shape;145;p17"/>
          <p:cNvPicPr preferRelativeResize="0"/>
          <p:nvPr/>
        </p:nvPicPr>
        <p:blipFill rotWithShape="1">
          <a:blip r:embed="rId7">
            <a:alphaModFix/>
          </a:blip>
          <a:srcRect b="0" l="0" r="0" t="0"/>
          <a:stretch/>
        </p:blipFill>
        <p:spPr>
          <a:xfrm>
            <a:off x="5762625" y="2424112"/>
            <a:ext cx="666750" cy="666750"/>
          </a:xfrm>
          <a:prstGeom prst="rect">
            <a:avLst/>
          </a:prstGeom>
          <a:noFill/>
          <a:ln>
            <a:noFill/>
          </a:ln>
        </p:spPr>
      </p:pic>
      <p:sp>
        <p:nvSpPr>
          <p:cNvPr id="146" name="Google Shape;146;p17"/>
          <p:cNvSpPr txBox="1"/>
          <p:nvPr/>
        </p:nvSpPr>
        <p:spPr>
          <a:xfrm>
            <a:off x="5180885" y="3281362"/>
            <a:ext cx="1830228" cy="45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2400" u="none" cap="none" strike="noStrike">
                <a:solidFill>
                  <a:srgbClr val="DEFF9A"/>
                </a:solidFill>
                <a:latin typeface="Urbanist"/>
                <a:ea typeface="Urbanist"/>
                <a:cs typeface="Urbanist"/>
                <a:sym typeface="Urbanist"/>
              </a:rPr>
              <a:t>Low Latency</a:t>
            </a:r>
            <a:endParaRPr/>
          </a:p>
        </p:txBody>
      </p:sp>
      <p:sp>
        <p:nvSpPr>
          <p:cNvPr id="147" name="Google Shape;147;p17"/>
          <p:cNvSpPr txBox="1"/>
          <p:nvPr/>
        </p:nvSpPr>
        <p:spPr>
          <a:xfrm>
            <a:off x="4645074" y="4071937"/>
            <a:ext cx="2901999" cy="8572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E0E0E0"/>
                </a:solidFill>
                <a:latin typeface="Urbanist"/>
                <a:ea typeface="Urbanist"/>
                <a:cs typeface="Urbanist"/>
                <a:sym typeface="Urbanist"/>
              </a:rPr>
              <a:t>Local inference on the ESP32 eliminates the round-trip time to the cloud, providing instant alerts.</a:t>
            </a:r>
            <a:endParaRPr/>
          </a:p>
        </p:txBody>
      </p:sp>
      <p:pic>
        <p:nvPicPr>
          <p:cNvPr descr="image.png" id="148" name="Google Shape;148;p17"/>
          <p:cNvPicPr preferRelativeResize="0"/>
          <p:nvPr/>
        </p:nvPicPr>
        <p:blipFill rotWithShape="1">
          <a:blip r:embed="rId8">
            <a:alphaModFix/>
          </a:blip>
          <a:srcRect b="0" l="0" r="0" t="0"/>
          <a:stretch/>
        </p:blipFill>
        <p:spPr>
          <a:xfrm>
            <a:off x="9540924" y="2424112"/>
            <a:ext cx="666750" cy="666750"/>
          </a:xfrm>
          <a:prstGeom prst="rect">
            <a:avLst/>
          </a:prstGeom>
          <a:noFill/>
          <a:ln>
            <a:noFill/>
          </a:ln>
        </p:spPr>
      </p:pic>
      <p:sp>
        <p:nvSpPr>
          <p:cNvPr id="149" name="Google Shape;149;p17"/>
          <p:cNvSpPr txBox="1"/>
          <p:nvPr/>
        </p:nvSpPr>
        <p:spPr>
          <a:xfrm>
            <a:off x="9339232" y="3281362"/>
            <a:ext cx="1070133" cy="45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2400" u="none" cap="none" strike="noStrike">
                <a:solidFill>
                  <a:srgbClr val="DEFF9A"/>
                </a:solidFill>
                <a:latin typeface="Urbanist"/>
                <a:ea typeface="Urbanist"/>
                <a:cs typeface="Urbanist"/>
                <a:sym typeface="Urbanist"/>
              </a:rPr>
              <a:t>Privacy</a:t>
            </a:r>
            <a:endParaRPr/>
          </a:p>
        </p:txBody>
      </p:sp>
      <p:sp>
        <p:nvSpPr>
          <p:cNvPr id="150" name="Google Shape;150;p17"/>
          <p:cNvSpPr txBox="1"/>
          <p:nvPr/>
        </p:nvSpPr>
        <p:spPr>
          <a:xfrm>
            <a:off x="8423374" y="4071937"/>
            <a:ext cx="2901999" cy="8572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E0E0E0"/>
                </a:solidFill>
                <a:latin typeface="Urbanist"/>
                <a:ea typeface="Urbanist"/>
                <a:cs typeface="Urbanist"/>
                <a:sym typeface="Urbanist"/>
              </a:rPr>
              <a:t>Images are processed on-device. No video stream is sent to the cloud, ensuring total user privacy.</a:t>
            </a:r>
            <a:endParaRPr/>
          </a:p>
        </p:txBody>
      </p:sp>
      <p:pic>
        <p:nvPicPr>
          <p:cNvPr descr="image.png" id="151" name="Google Shape;151;p17"/>
          <p:cNvPicPr preferRelativeResize="0"/>
          <p:nvPr/>
        </p:nvPicPr>
        <p:blipFill rotWithShape="1">
          <a:blip r:embed="rId9">
            <a:alphaModFix/>
          </a:blip>
          <a:srcRect b="0" l="0" r="0" t="0"/>
          <a:stretch/>
        </p:blipFill>
        <p:spPr>
          <a:xfrm>
            <a:off x="2103387" y="2557462"/>
            <a:ext cx="428625" cy="381000"/>
          </a:xfrm>
          <a:prstGeom prst="rect">
            <a:avLst/>
          </a:prstGeom>
          <a:noFill/>
          <a:ln>
            <a:noFill/>
          </a:ln>
        </p:spPr>
      </p:pic>
      <p:pic>
        <p:nvPicPr>
          <p:cNvPr descr="image.png" id="152" name="Google Shape;152;p17"/>
          <p:cNvPicPr preferRelativeResize="0"/>
          <p:nvPr/>
        </p:nvPicPr>
        <p:blipFill rotWithShape="1">
          <a:blip r:embed="rId10">
            <a:alphaModFix/>
          </a:blip>
          <a:srcRect b="0" l="0" r="0" t="0"/>
          <a:stretch/>
        </p:blipFill>
        <p:spPr>
          <a:xfrm>
            <a:off x="5929312" y="2557462"/>
            <a:ext cx="333375" cy="381000"/>
          </a:xfrm>
          <a:prstGeom prst="rect">
            <a:avLst/>
          </a:prstGeom>
          <a:noFill/>
          <a:ln>
            <a:noFill/>
          </a:ln>
        </p:spPr>
      </p:pic>
      <p:pic>
        <p:nvPicPr>
          <p:cNvPr descr="image.png" id="153" name="Google Shape;153;p17"/>
          <p:cNvPicPr preferRelativeResize="0"/>
          <p:nvPr/>
        </p:nvPicPr>
        <p:blipFill rotWithShape="1">
          <a:blip r:embed="rId11">
            <a:alphaModFix/>
          </a:blip>
          <a:srcRect b="0" l="0" r="0" t="0"/>
          <a:stretch/>
        </p:blipFill>
        <p:spPr>
          <a:xfrm>
            <a:off x="9683799" y="2557462"/>
            <a:ext cx="381000" cy="381000"/>
          </a:xfrm>
          <a:prstGeom prst="rect">
            <a:avLst/>
          </a:prstGeom>
          <a:noFill/>
          <a:ln>
            <a:noFill/>
          </a:ln>
        </p:spPr>
      </p:pic>
      <p:sp>
        <p:nvSpPr>
          <p:cNvPr id="154" name="Google Shape;154;p17"/>
          <p:cNvSpPr txBox="1"/>
          <p:nvPr/>
        </p:nvSpPr>
        <p:spPr>
          <a:xfrm>
            <a:off x="571500" y="571500"/>
            <a:ext cx="116016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900" u="none" cap="none" strike="noStrike">
                <a:solidFill>
                  <a:srgbClr val="F5F5F5"/>
                </a:solidFill>
                <a:latin typeface="Urbanist"/>
                <a:ea typeface="Urbanist"/>
                <a:cs typeface="Urbanist"/>
                <a:sym typeface="Urbanist"/>
              </a:rPr>
              <a:t>The Advantages of TinyML on ESP32S</a:t>
            </a:r>
            <a:r>
              <a:rPr b="1" lang="en-US" sz="3900">
                <a:solidFill>
                  <a:srgbClr val="F5F5F5"/>
                </a:solidFill>
                <a:latin typeface="Urbanist"/>
                <a:ea typeface="Urbanist"/>
                <a:cs typeface="Urbanist"/>
                <a:sym typeface="Urbanist"/>
              </a:rPr>
              <a:t>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8" name="Shape 158"/>
        <p:cNvGrpSpPr/>
        <p:nvPr/>
      </p:nvGrpSpPr>
      <p:grpSpPr>
        <a:xfrm>
          <a:off x="0" y="0"/>
          <a:ext cx="0" cy="0"/>
          <a:chOff x="0" y="0"/>
          <a:chExt cx="0" cy="0"/>
        </a:xfrm>
      </p:grpSpPr>
      <p:pic>
        <p:nvPicPr>
          <p:cNvPr descr="image.png" id="159" name="Google Shape;159;p18"/>
          <p:cNvPicPr preferRelativeResize="0"/>
          <p:nvPr/>
        </p:nvPicPr>
        <p:blipFill rotWithShape="1">
          <a:blip r:embed="rId3">
            <a:alphaModFix/>
          </a:blip>
          <a:srcRect b="0" l="0" r="0" t="0"/>
          <a:stretch/>
        </p:blipFill>
        <p:spPr>
          <a:xfrm>
            <a:off x="571500" y="5545537"/>
            <a:ext cx="1988790" cy="1152525"/>
          </a:xfrm>
          <a:prstGeom prst="rect">
            <a:avLst/>
          </a:prstGeom>
          <a:noFill/>
          <a:ln>
            <a:noFill/>
          </a:ln>
        </p:spPr>
      </p:pic>
      <p:pic>
        <p:nvPicPr>
          <p:cNvPr descr="image.png" id="160" name="Google Shape;160;p18"/>
          <p:cNvPicPr preferRelativeResize="0"/>
          <p:nvPr/>
        </p:nvPicPr>
        <p:blipFill rotWithShape="1">
          <a:blip r:embed="rId4">
            <a:alphaModFix/>
          </a:blip>
          <a:srcRect b="0" l="0" r="0" t="0"/>
          <a:stretch/>
        </p:blipFill>
        <p:spPr>
          <a:xfrm>
            <a:off x="5021390" y="5545537"/>
            <a:ext cx="1988790" cy="1152525"/>
          </a:xfrm>
          <a:prstGeom prst="rect">
            <a:avLst/>
          </a:prstGeom>
          <a:noFill/>
          <a:ln>
            <a:noFill/>
          </a:ln>
        </p:spPr>
      </p:pic>
      <p:sp>
        <p:nvSpPr>
          <p:cNvPr id="161" name="Google Shape;161;p18"/>
          <p:cNvSpPr/>
          <p:nvPr/>
        </p:nvSpPr>
        <p:spPr>
          <a:xfrm>
            <a:off x="571500" y="5126437"/>
            <a:ext cx="11049000" cy="38100"/>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8"/>
          <p:cNvSpPr/>
          <p:nvPr/>
        </p:nvSpPr>
        <p:spPr>
          <a:xfrm>
            <a:off x="1356270" y="4935937"/>
            <a:ext cx="419100" cy="4191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p:nvPr/>
        </p:nvSpPr>
        <p:spPr>
          <a:xfrm>
            <a:off x="5886301" y="4935937"/>
            <a:ext cx="419100" cy="4191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8"/>
          <p:cNvSpPr/>
          <p:nvPr/>
        </p:nvSpPr>
        <p:spPr>
          <a:xfrm>
            <a:off x="10416331" y="4935937"/>
            <a:ext cx="419100" cy="4191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8"/>
          <p:cNvSpPr txBox="1"/>
          <p:nvPr/>
        </p:nvSpPr>
        <p:spPr>
          <a:xfrm>
            <a:off x="731806" y="5745562"/>
            <a:ext cx="16683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350" u="none" cap="none" strike="noStrike">
                <a:solidFill>
                  <a:srgbClr val="DEFF9A"/>
                </a:solidFill>
                <a:latin typeface="Urbanist"/>
                <a:ea typeface="Urbanist"/>
                <a:cs typeface="Urbanist"/>
                <a:sym typeface="Urbanist"/>
              </a:rPr>
              <a:t>Data Ingestion</a:t>
            </a:r>
            <a:endParaRPr/>
          </a:p>
        </p:txBody>
      </p:sp>
      <p:sp>
        <p:nvSpPr>
          <p:cNvPr id="166" name="Google Shape;166;p18"/>
          <p:cNvSpPr txBox="1"/>
          <p:nvPr/>
        </p:nvSpPr>
        <p:spPr>
          <a:xfrm>
            <a:off x="771525" y="6097987"/>
            <a:ext cx="1588800" cy="40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E0E0E0"/>
                </a:solidFill>
                <a:latin typeface="Urbanist"/>
                <a:ea typeface="Urbanist"/>
                <a:cs typeface="Urbanist"/>
                <a:sym typeface="Urbanist"/>
              </a:rPr>
              <a:t>Collecting dataset of known faces.</a:t>
            </a:r>
            <a:endParaRPr/>
          </a:p>
        </p:txBody>
      </p:sp>
      <p:sp>
        <p:nvSpPr>
          <p:cNvPr id="167" name="Google Shape;167;p18"/>
          <p:cNvSpPr txBox="1"/>
          <p:nvPr/>
        </p:nvSpPr>
        <p:spPr>
          <a:xfrm>
            <a:off x="5221415" y="6097987"/>
            <a:ext cx="1588800" cy="40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050">
                <a:solidFill>
                  <a:srgbClr val="E0E0E0"/>
                </a:solidFill>
                <a:latin typeface="Urbanist"/>
                <a:ea typeface="Urbanist"/>
                <a:cs typeface="Urbanist"/>
                <a:sym typeface="Urbanist"/>
              </a:rPr>
              <a:t>Create Impulse for model Training</a:t>
            </a:r>
            <a:endParaRPr/>
          </a:p>
        </p:txBody>
      </p:sp>
      <p:sp>
        <p:nvSpPr>
          <p:cNvPr id="168" name="Google Shape;168;p18"/>
          <p:cNvSpPr txBox="1"/>
          <p:nvPr/>
        </p:nvSpPr>
        <p:spPr>
          <a:xfrm>
            <a:off x="571500" y="5715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900" u="none" cap="none" strike="noStrike">
                <a:solidFill>
                  <a:srgbClr val="F5F5F5"/>
                </a:solidFill>
                <a:latin typeface="Urbanist"/>
                <a:ea typeface="Urbanist"/>
                <a:cs typeface="Urbanist"/>
                <a:sym typeface="Urbanist"/>
              </a:rPr>
              <a:t>Edge Impulse </a:t>
            </a:r>
            <a:r>
              <a:rPr b="1" i="0" lang="en-US" sz="3900" u="none" cap="none" strike="noStrike">
                <a:solidFill>
                  <a:srgbClr val="DEFF9A"/>
                </a:solidFill>
                <a:latin typeface="Urbanist"/>
                <a:ea typeface="Urbanist"/>
                <a:cs typeface="Urbanist"/>
                <a:sym typeface="Urbanist"/>
              </a:rPr>
              <a:t>Pipeline</a:t>
            </a:r>
            <a:endParaRPr/>
          </a:p>
        </p:txBody>
      </p:sp>
      <p:pic>
        <p:nvPicPr>
          <p:cNvPr descr="image.png" id="169" name="Google Shape;169;p18"/>
          <p:cNvPicPr preferRelativeResize="0"/>
          <p:nvPr/>
        </p:nvPicPr>
        <p:blipFill rotWithShape="1">
          <a:blip r:embed="rId4">
            <a:alphaModFix/>
          </a:blip>
          <a:srcRect b="0" l="0" r="0" t="0"/>
          <a:stretch/>
        </p:blipFill>
        <p:spPr>
          <a:xfrm>
            <a:off x="9631478" y="5545537"/>
            <a:ext cx="1988790" cy="1152525"/>
          </a:xfrm>
          <a:prstGeom prst="rect">
            <a:avLst/>
          </a:prstGeom>
          <a:noFill/>
          <a:ln>
            <a:noFill/>
          </a:ln>
        </p:spPr>
      </p:pic>
      <p:sp>
        <p:nvSpPr>
          <p:cNvPr id="170" name="Google Shape;170;p18"/>
          <p:cNvSpPr txBox="1"/>
          <p:nvPr/>
        </p:nvSpPr>
        <p:spPr>
          <a:xfrm>
            <a:off x="9791784" y="5745562"/>
            <a:ext cx="16683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350" u="none" cap="none" strike="noStrike">
                <a:solidFill>
                  <a:srgbClr val="DEFF9A"/>
                </a:solidFill>
                <a:latin typeface="Urbanist"/>
                <a:ea typeface="Urbanist"/>
                <a:cs typeface="Urbanist"/>
                <a:sym typeface="Urbanist"/>
              </a:rPr>
              <a:t>DSP</a:t>
            </a:r>
            <a:endParaRPr/>
          </a:p>
        </p:txBody>
      </p:sp>
      <p:sp>
        <p:nvSpPr>
          <p:cNvPr id="171" name="Google Shape;171;p18"/>
          <p:cNvSpPr txBox="1"/>
          <p:nvPr/>
        </p:nvSpPr>
        <p:spPr>
          <a:xfrm>
            <a:off x="9831503" y="6097987"/>
            <a:ext cx="1588800" cy="40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E0E0E0"/>
                </a:solidFill>
                <a:latin typeface="Urbanist"/>
                <a:ea typeface="Urbanist"/>
                <a:cs typeface="Urbanist"/>
                <a:sym typeface="Urbanist"/>
              </a:rPr>
              <a:t>Image preprocessing &amp; resizing.</a:t>
            </a:r>
            <a:endParaRPr/>
          </a:p>
        </p:txBody>
      </p:sp>
      <p:sp>
        <p:nvSpPr>
          <p:cNvPr id="172" name="Google Shape;172;p18"/>
          <p:cNvSpPr txBox="1"/>
          <p:nvPr/>
        </p:nvSpPr>
        <p:spPr>
          <a:xfrm>
            <a:off x="5181646" y="5745562"/>
            <a:ext cx="16683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lang="en-US" sz="1350">
                <a:solidFill>
                  <a:srgbClr val="DEFF9A"/>
                </a:solidFill>
                <a:latin typeface="Urbanist"/>
                <a:ea typeface="Urbanist"/>
                <a:cs typeface="Urbanist"/>
                <a:sym typeface="Urbanist"/>
              </a:rPr>
              <a:t>Impulse</a:t>
            </a:r>
            <a:endParaRPr/>
          </a:p>
        </p:txBody>
      </p:sp>
      <p:pic>
        <p:nvPicPr>
          <p:cNvPr id="173" name="Google Shape;173;p18"/>
          <p:cNvPicPr preferRelativeResize="0"/>
          <p:nvPr/>
        </p:nvPicPr>
        <p:blipFill>
          <a:blip r:embed="rId5">
            <a:alphaModFix/>
          </a:blip>
          <a:stretch>
            <a:fillRect/>
          </a:stretch>
        </p:blipFill>
        <p:spPr>
          <a:xfrm>
            <a:off x="-5" y="1219188"/>
            <a:ext cx="3467551" cy="3659589"/>
          </a:xfrm>
          <a:prstGeom prst="rect">
            <a:avLst/>
          </a:prstGeom>
          <a:noFill/>
          <a:ln>
            <a:noFill/>
          </a:ln>
        </p:spPr>
      </p:pic>
      <p:pic>
        <p:nvPicPr>
          <p:cNvPr id="174" name="Google Shape;174;p18"/>
          <p:cNvPicPr preferRelativeResize="0"/>
          <p:nvPr/>
        </p:nvPicPr>
        <p:blipFill>
          <a:blip r:embed="rId6">
            <a:alphaModFix/>
          </a:blip>
          <a:stretch>
            <a:fillRect/>
          </a:stretch>
        </p:blipFill>
        <p:spPr>
          <a:xfrm>
            <a:off x="3688975" y="1908050"/>
            <a:ext cx="4253875" cy="2744025"/>
          </a:xfrm>
          <a:prstGeom prst="rect">
            <a:avLst/>
          </a:prstGeom>
          <a:noFill/>
          <a:ln>
            <a:noFill/>
          </a:ln>
        </p:spPr>
      </p:pic>
      <p:pic>
        <p:nvPicPr>
          <p:cNvPr id="175" name="Google Shape;175;p18"/>
          <p:cNvPicPr preferRelativeResize="0"/>
          <p:nvPr/>
        </p:nvPicPr>
        <p:blipFill>
          <a:blip r:embed="rId7">
            <a:alphaModFix/>
          </a:blip>
          <a:stretch>
            <a:fillRect/>
          </a:stretch>
        </p:blipFill>
        <p:spPr>
          <a:xfrm>
            <a:off x="8099169" y="1314450"/>
            <a:ext cx="3759481" cy="34654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9" name="Shape 179"/>
        <p:cNvGrpSpPr/>
        <p:nvPr/>
      </p:nvGrpSpPr>
      <p:grpSpPr>
        <a:xfrm>
          <a:off x="0" y="0"/>
          <a:ext cx="0" cy="0"/>
          <a:chOff x="0" y="0"/>
          <a:chExt cx="0" cy="0"/>
        </a:xfrm>
      </p:grpSpPr>
      <p:pic>
        <p:nvPicPr>
          <p:cNvPr descr="image.png" id="180" name="Google Shape;180;p19"/>
          <p:cNvPicPr preferRelativeResize="0"/>
          <p:nvPr/>
        </p:nvPicPr>
        <p:blipFill rotWithShape="1">
          <a:blip r:embed="rId3">
            <a:alphaModFix/>
          </a:blip>
          <a:srcRect b="0" l="0" r="0" t="0"/>
          <a:stretch/>
        </p:blipFill>
        <p:spPr>
          <a:xfrm>
            <a:off x="571505" y="5545537"/>
            <a:ext cx="1988790" cy="1152525"/>
          </a:xfrm>
          <a:prstGeom prst="rect">
            <a:avLst/>
          </a:prstGeom>
          <a:noFill/>
          <a:ln>
            <a:noFill/>
          </a:ln>
        </p:spPr>
      </p:pic>
      <p:pic>
        <p:nvPicPr>
          <p:cNvPr descr="image.png" id="181" name="Google Shape;181;p19"/>
          <p:cNvPicPr preferRelativeResize="0"/>
          <p:nvPr/>
        </p:nvPicPr>
        <p:blipFill rotWithShape="1">
          <a:blip r:embed="rId4">
            <a:alphaModFix/>
          </a:blip>
          <a:srcRect b="0" l="0" r="0" t="0"/>
          <a:stretch/>
        </p:blipFill>
        <p:spPr>
          <a:xfrm>
            <a:off x="5101533" y="5545537"/>
            <a:ext cx="1988790" cy="1152525"/>
          </a:xfrm>
          <a:prstGeom prst="rect">
            <a:avLst/>
          </a:prstGeom>
          <a:noFill/>
          <a:ln>
            <a:noFill/>
          </a:ln>
        </p:spPr>
      </p:pic>
      <p:pic>
        <p:nvPicPr>
          <p:cNvPr descr="image.png" id="182" name="Google Shape;182;p19"/>
          <p:cNvPicPr preferRelativeResize="0"/>
          <p:nvPr/>
        </p:nvPicPr>
        <p:blipFill rotWithShape="1">
          <a:blip r:embed="rId5">
            <a:alphaModFix/>
          </a:blip>
          <a:srcRect b="0" l="0" r="0" t="0"/>
          <a:stretch/>
        </p:blipFill>
        <p:spPr>
          <a:xfrm>
            <a:off x="9631560" y="5545537"/>
            <a:ext cx="1988790" cy="1152525"/>
          </a:xfrm>
          <a:prstGeom prst="rect">
            <a:avLst/>
          </a:prstGeom>
          <a:noFill/>
          <a:ln>
            <a:noFill/>
          </a:ln>
        </p:spPr>
      </p:pic>
      <p:sp>
        <p:nvSpPr>
          <p:cNvPr id="183" name="Google Shape;183;p19"/>
          <p:cNvSpPr/>
          <p:nvPr/>
        </p:nvSpPr>
        <p:spPr>
          <a:xfrm>
            <a:off x="571500" y="5126437"/>
            <a:ext cx="11049000" cy="38100"/>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19"/>
          <p:cNvSpPr/>
          <p:nvPr/>
        </p:nvSpPr>
        <p:spPr>
          <a:xfrm>
            <a:off x="1356270" y="4935937"/>
            <a:ext cx="419100" cy="4191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9"/>
          <p:cNvSpPr/>
          <p:nvPr/>
        </p:nvSpPr>
        <p:spPr>
          <a:xfrm>
            <a:off x="5886301" y="4935937"/>
            <a:ext cx="419100" cy="4191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9"/>
          <p:cNvSpPr/>
          <p:nvPr/>
        </p:nvSpPr>
        <p:spPr>
          <a:xfrm>
            <a:off x="10416331" y="4935937"/>
            <a:ext cx="419100" cy="419100"/>
          </a:xfrm>
          <a:prstGeom prst="roundRect">
            <a:avLst>
              <a:gd fmla="val 50000" name="adj"/>
            </a:avLst>
          </a:prstGeom>
          <a:solidFill>
            <a:srgbClr val="000000"/>
          </a:solidFill>
          <a:ln cap="flat" cmpd="sng" w="38100">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9"/>
          <p:cNvSpPr txBox="1"/>
          <p:nvPr/>
        </p:nvSpPr>
        <p:spPr>
          <a:xfrm>
            <a:off x="731811" y="5745562"/>
            <a:ext cx="16683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350" u="none" cap="none" strike="noStrike">
                <a:solidFill>
                  <a:srgbClr val="DEFF9A"/>
                </a:solidFill>
                <a:latin typeface="Urbanist"/>
                <a:ea typeface="Urbanist"/>
                <a:cs typeface="Urbanist"/>
                <a:sym typeface="Urbanist"/>
              </a:rPr>
              <a:t>Training</a:t>
            </a:r>
            <a:endParaRPr/>
          </a:p>
        </p:txBody>
      </p:sp>
      <p:sp>
        <p:nvSpPr>
          <p:cNvPr id="188" name="Google Shape;188;p19"/>
          <p:cNvSpPr txBox="1"/>
          <p:nvPr/>
        </p:nvSpPr>
        <p:spPr>
          <a:xfrm>
            <a:off x="771530" y="6097987"/>
            <a:ext cx="1588800" cy="40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E0E0E0"/>
                </a:solidFill>
                <a:latin typeface="Urbanist"/>
                <a:ea typeface="Urbanist"/>
                <a:cs typeface="Urbanist"/>
                <a:sym typeface="Urbanist"/>
              </a:rPr>
              <a:t>Transfer learning (MobileNetV2).</a:t>
            </a:r>
            <a:endParaRPr/>
          </a:p>
        </p:txBody>
      </p:sp>
      <p:sp>
        <p:nvSpPr>
          <p:cNvPr id="189" name="Google Shape;189;p19"/>
          <p:cNvSpPr txBox="1"/>
          <p:nvPr/>
        </p:nvSpPr>
        <p:spPr>
          <a:xfrm>
            <a:off x="5261840" y="5745562"/>
            <a:ext cx="16683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350" u="none" cap="none" strike="noStrike">
                <a:solidFill>
                  <a:srgbClr val="DEFF9A"/>
                </a:solidFill>
                <a:latin typeface="Urbanist"/>
                <a:ea typeface="Urbanist"/>
                <a:cs typeface="Urbanist"/>
                <a:sym typeface="Urbanist"/>
              </a:rPr>
              <a:t>Validation</a:t>
            </a:r>
            <a:endParaRPr/>
          </a:p>
        </p:txBody>
      </p:sp>
      <p:sp>
        <p:nvSpPr>
          <p:cNvPr id="190" name="Google Shape;190;p19"/>
          <p:cNvSpPr txBox="1"/>
          <p:nvPr/>
        </p:nvSpPr>
        <p:spPr>
          <a:xfrm>
            <a:off x="5301558" y="6097987"/>
            <a:ext cx="1588800" cy="40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E0E0E0"/>
                </a:solidFill>
                <a:latin typeface="Urbanist"/>
                <a:ea typeface="Urbanist"/>
                <a:cs typeface="Urbanist"/>
                <a:sym typeface="Urbanist"/>
              </a:rPr>
              <a:t>Testing model accuracy vs F1 score.</a:t>
            </a:r>
            <a:endParaRPr/>
          </a:p>
        </p:txBody>
      </p:sp>
      <p:sp>
        <p:nvSpPr>
          <p:cNvPr id="191" name="Google Shape;191;p19"/>
          <p:cNvSpPr txBox="1"/>
          <p:nvPr/>
        </p:nvSpPr>
        <p:spPr>
          <a:xfrm>
            <a:off x="9791867" y="5745562"/>
            <a:ext cx="1668300" cy="2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350" u="none" cap="none" strike="noStrike">
                <a:solidFill>
                  <a:srgbClr val="DEFF9A"/>
                </a:solidFill>
                <a:latin typeface="Urbanist"/>
                <a:ea typeface="Urbanist"/>
                <a:cs typeface="Urbanist"/>
                <a:sym typeface="Urbanist"/>
              </a:rPr>
              <a:t>Deployment</a:t>
            </a:r>
            <a:endParaRPr/>
          </a:p>
        </p:txBody>
      </p:sp>
      <p:sp>
        <p:nvSpPr>
          <p:cNvPr id="192" name="Google Shape;192;p19"/>
          <p:cNvSpPr txBox="1"/>
          <p:nvPr/>
        </p:nvSpPr>
        <p:spPr>
          <a:xfrm>
            <a:off x="9831585" y="6097987"/>
            <a:ext cx="1588800" cy="40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E0E0E0"/>
                </a:solidFill>
                <a:latin typeface="Urbanist"/>
                <a:ea typeface="Urbanist"/>
                <a:cs typeface="Urbanist"/>
                <a:sym typeface="Urbanist"/>
              </a:rPr>
              <a:t>Export as Arduino/C++ library.</a:t>
            </a:r>
            <a:endParaRPr/>
          </a:p>
        </p:txBody>
      </p:sp>
      <p:sp>
        <p:nvSpPr>
          <p:cNvPr id="193" name="Google Shape;193;p19"/>
          <p:cNvSpPr txBox="1"/>
          <p:nvPr/>
        </p:nvSpPr>
        <p:spPr>
          <a:xfrm>
            <a:off x="571500" y="571500"/>
            <a:ext cx="116016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900" u="none" cap="none" strike="noStrike">
                <a:solidFill>
                  <a:srgbClr val="F5F5F5"/>
                </a:solidFill>
                <a:latin typeface="Urbanist"/>
                <a:ea typeface="Urbanist"/>
                <a:cs typeface="Urbanist"/>
                <a:sym typeface="Urbanist"/>
              </a:rPr>
              <a:t>Edge Impulse </a:t>
            </a:r>
            <a:r>
              <a:rPr b="1" i="0" lang="en-US" sz="3900" u="none" cap="none" strike="noStrike">
                <a:solidFill>
                  <a:srgbClr val="DEFF9A"/>
                </a:solidFill>
                <a:latin typeface="Urbanist"/>
                <a:ea typeface="Urbanist"/>
                <a:cs typeface="Urbanist"/>
                <a:sym typeface="Urbanist"/>
              </a:rPr>
              <a:t>Pipeline</a:t>
            </a:r>
            <a:endParaRPr/>
          </a:p>
        </p:txBody>
      </p:sp>
      <p:pic>
        <p:nvPicPr>
          <p:cNvPr id="194" name="Google Shape;194;p19"/>
          <p:cNvPicPr preferRelativeResize="0"/>
          <p:nvPr/>
        </p:nvPicPr>
        <p:blipFill>
          <a:blip r:embed="rId6">
            <a:alphaModFix/>
          </a:blip>
          <a:stretch>
            <a:fillRect/>
          </a:stretch>
        </p:blipFill>
        <p:spPr>
          <a:xfrm>
            <a:off x="216045" y="1171800"/>
            <a:ext cx="3431936" cy="3649837"/>
          </a:xfrm>
          <a:prstGeom prst="rect">
            <a:avLst/>
          </a:prstGeom>
          <a:noFill/>
          <a:ln>
            <a:noFill/>
          </a:ln>
        </p:spPr>
      </p:pic>
      <p:pic>
        <p:nvPicPr>
          <p:cNvPr id="195" name="Google Shape;195;p19"/>
          <p:cNvPicPr preferRelativeResize="0"/>
          <p:nvPr/>
        </p:nvPicPr>
        <p:blipFill>
          <a:blip r:embed="rId7">
            <a:alphaModFix/>
          </a:blip>
          <a:stretch>
            <a:fillRect/>
          </a:stretch>
        </p:blipFill>
        <p:spPr>
          <a:xfrm>
            <a:off x="4572001" y="1171788"/>
            <a:ext cx="3252969" cy="3649838"/>
          </a:xfrm>
          <a:prstGeom prst="rect">
            <a:avLst/>
          </a:prstGeom>
          <a:noFill/>
          <a:ln>
            <a:noFill/>
          </a:ln>
        </p:spPr>
      </p:pic>
      <p:pic>
        <p:nvPicPr>
          <p:cNvPr id="196" name="Google Shape;196;p19"/>
          <p:cNvPicPr preferRelativeResize="0"/>
          <p:nvPr/>
        </p:nvPicPr>
        <p:blipFill>
          <a:blip r:embed="rId8">
            <a:alphaModFix/>
          </a:blip>
          <a:stretch>
            <a:fillRect/>
          </a:stretch>
        </p:blipFill>
        <p:spPr>
          <a:xfrm>
            <a:off x="9488732" y="1171800"/>
            <a:ext cx="2274270" cy="36498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0" name="Shape 200"/>
        <p:cNvGrpSpPr/>
        <p:nvPr/>
      </p:nvGrpSpPr>
      <p:grpSpPr>
        <a:xfrm>
          <a:off x="0" y="0"/>
          <a:ext cx="0" cy="0"/>
          <a:chOff x="0" y="0"/>
          <a:chExt cx="0" cy="0"/>
        </a:xfrm>
      </p:grpSpPr>
      <p:sp>
        <p:nvSpPr>
          <p:cNvPr id="201" name="Google Shape;201;p20"/>
          <p:cNvSpPr txBox="1"/>
          <p:nvPr/>
        </p:nvSpPr>
        <p:spPr>
          <a:xfrm>
            <a:off x="571500" y="1847850"/>
            <a:ext cx="52006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900" u="none" cap="none" strike="noStrike">
                <a:solidFill>
                  <a:srgbClr val="F5F5F5"/>
                </a:solidFill>
                <a:latin typeface="Urbanist"/>
                <a:ea typeface="Urbanist"/>
                <a:cs typeface="Urbanist"/>
                <a:sym typeface="Urbanist"/>
              </a:rPr>
              <a:t>System </a:t>
            </a:r>
            <a:r>
              <a:rPr b="1" i="0" lang="en-US" sz="3900" u="none" cap="none" strike="noStrike">
                <a:solidFill>
                  <a:srgbClr val="DEFF9A"/>
                </a:solidFill>
                <a:latin typeface="Urbanist"/>
                <a:ea typeface="Urbanist"/>
                <a:cs typeface="Urbanist"/>
                <a:sym typeface="Urbanist"/>
              </a:rPr>
              <a:t>Schematic</a:t>
            </a:r>
            <a:endParaRPr/>
          </a:p>
        </p:txBody>
      </p:sp>
      <p:sp>
        <p:nvSpPr>
          <p:cNvPr id="202" name="Google Shape;202;p20"/>
          <p:cNvSpPr txBox="1"/>
          <p:nvPr/>
        </p:nvSpPr>
        <p:spPr>
          <a:xfrm>
            <a:off x="212550" y="2945025"/>
            <a:ext cx="4953000" cy="2308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500">
                <a:solidFill>
                  <a:srgbClr val="E0E0E0"/>
                </a:solidFill>
                <a:latin typeface="Urbanist"/>
                <a:ea typeface="Urbanist"/>
                <a:cs typeface="Urbanist"/>
                <a:sym typeface="Urbanist"/>
              </a:rPr>
              <a:t>When the PIR sensor detects movement, it wakes up the ESP32-S3. The camera captures an image and processes it, then a TinyML model performs face detection and recognition. The system decides whether the face is known and sends the appropriate event to Home Assistant via MQTT. After logging and notifications, the ESP32-S3 enters deep-sleep mode to save power.</a:t>
            </a:r>
            <a:endParaRPr/>
          </a:p>
        </p:txBody>
      </p:sp>
      <p:pic>
        <p:nvPicPr>
          <p:cNvPr id="203" name="Google Shape;203;p20"/>
          <p:cNvPicPr preferRelativeResize="0"/>
          <p:nvPr/>
        </p:nvPicPr>
        <p:blipFill>
          <a:blip r:embed="rId3">
            <a:alphaModFix/>
          </a:blip>
          <a:stretch>
            <a:fillRect/>
          </a:stretch>
        </p:blipFill>
        <p:spPr>
          <a:xfrm>
            <a:off x="5524500" y="1610675"/>
            <a:ext cx="6667500" cy="444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7" name="Shape 207"/>
        <p:cNvGrpSpPr/>
        <p:nvPr/>
      </p:nvGrpSpPr>
      <p:grpSpPr>
        <a:xfrm>
          <a:off x="0" y="0"/>
          <a:ext cx="0" cy="0"/>
          <a:chOff x="0" y="0"/>
          <a:chExt cx="0" cy="0"/>
        </a:xfrm>
      </p:grpSpPr>
      <p:sp>
        <p:nvSpPr>
          <p:cNvPr id="208" name="Google Shape;208;p21"/>
          <p:cNvSpPr txBox="1"/>
          <p:nvPr/>
        </p:nvSpPr>
        <p:spPr>
          <a:xfrm>
            <a:off x="6018850" y="1554575"/>
            <a:ext cx="5500800" cy="369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400" u="none" cap="none" strike="noStrike">
                <a:solidFill>
                  <a:srgbClr val="DEFF9A"/>
                </a:solidFill>
                <a:latin typeface="Urbanist"/>
                <a:ea typeface="Urbanist"/>
                <a:cs typeface="Urbanist"/>
                <a:sym typeface="Urbanist"/>
              </a:rPr>
              <a:t>Core Components</a:t>
            </a:r>
            <a:endParaRPr/>
          </a:p>
        </p:txBody>
      </p:sp>
      <p:sp>
        <p:nvSpPr>
          <p:cNvPr id="209" name="Google Shape;209;p21"/>
          <p:cNvSpPr txBox="1"/>
          <p:nvPr/>
        </p:nvSpPr>
        <p:spPr>
          <a:xfrm>
            <a:off x="6352225" y="2178463"/>
            <a:ext cx="49053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MCU:</a:t>
            </a:r>
            <a:r>
              <a:rPr b="0" i="0" lang="en-US" sz="1500" u="none" cap="none" strike="noStrike">
                <a:solidFill>
                  <a:srgbClr val="E0E0E0"/>
                </a:solidFill>
                <a:latin typeface="Urbanist"/>
                <a:ea typeface="Urbanist"/>
                <a:cs typeface="Urbanist"/>
                <a:sym typeface="Urbanist"/>
              </a:rPr>
              <a:t> </a:t>
            </a:r>
            <a:r>
              <a:rPr lang="en-US" sz="1500">
                <a:solidFill>
                  <a:srgbClr val="E0E0E0"/>
                </a:solidFill>
                <a:latin typeface="Urbanist"/>
                <a:ea typeface="Urbanist"/>
                <a:cs typeface="Urbanist"/>
                <a:sym typeface="Urbanist"/>
              </a:rPr>
              <a:t>Seeed Xiao </a:t>
            </a:r>
            <a:r>
              <a:rPr b="0" i="0" lang="en-US" sz="1500" u="none" cap="none" strike="noStrike">
                <a:solidFill>
                  <a:srgbClr val="E0E0E0"/>
                </a:solidFill>
                <a:latin typeface="Urbanist"/>
                <a:ea typeface="Urbanist"/>
                <a:cs typeface="Urbanist"/>
                <a:sym typeface="Urbanist"/>
              </a:rPr>
              <a:t>ESP32-S3 </a:t>
            </a:r>
            <a:r>
              <a:rPr lang="en-US" sz="1500">
                <a:solidFill>
                  <a:srgbClr val="E0E0E0"/>
                </a:solidFill>
                <a:latin typeface="Urbanist"/>
                <a:ea typeface="Urbanist"/>
                <a:cs typeface="Urbanist"/>
                <a:sym typeface="Urbanist"/>
              </a:rPr>
              <a:t>Sense</a:t>
            </a:r>
            <a:endParaRPr/>
          </a:p>
        </p:txBody>
      </p:sp>
      <p:sp>
        <p:nvSpPr>
          <p:cNvPr id="210" name="Google Shape;210;p21"/>
          <p:cNvSpPr txBox="1"/>
          <p:nvPr/>
        </p:nvSpPr>
        <p:spPr>
          <a:xfrm>
            <a:off x="6352225" y="3007138"/>
            <a:ext cx="49053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Sensor:</a:t>
            </a:r>
            <a:r>
              <a:rPr b="0" i="0" lang="en-US" sz="1500" u="none" cap="none" strike="noStrike">
                <a:solidFill>
                  <a:srgbClr val="E0E0E0"/>
                </a:solidFill>
                <a:latin typeface="Urbanist"/>
                <a:ea typeface="Urbanist"/>
                <a:cs typeface="Urbanist"/>
                <a:sym typeface="Urbanist"/>
              </a:rPr>
              <a:t> </a:t>
            </a:r>
            <a:r>
              <a:rPr lang="en-US" sz="1500">
                <a:solidFill>
                  <a:srgbClr val="E0E0E0"/>
                </a:solidFill>
                <a:latin typeface="Urbanist"/>
                <a:ea typeface="Urbanist"/>
                <a:cs typeface="Urbanist"/>
                <a:sym typeface="Urbanist"/>
              </a:rPr>
              <a:t>Seeed Grove - Digital PIR Sensor</a:t>
            </a:r>
            <a:endParaRPr/>
          </a:p>
        </p:txBody>
      </p:sp>
      <p:sp>
        <p:nvSpPr>
          <p:cNvPr id="211" name="Google Shape;211;p21"/>
          <p:cNvSpPr txBox="1"/>
          <p:nvPr/>
        </p:nvSpPr>
        <p:spPr>
          <a:xfrm>
            <a:off x="6352225" y="3440525"/>
            <a:ext cx="49053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Power:</a:t>
            </a:r>
            <a:r>
              <a:rPr b="0" i="0" lang="en-US" sz="1500" u="none" cap="none" strike="noStrike">
                <a:solidFill>
                  <a:srgbClr val="E0E0E0"/>
                </a:solidFill>
                <a:latin typeface="Urbanist"/>
                <a:ea typeface="Urbanist"/>
                <a:cs typeface="Urbanist"/>
                <a:sym typeface="Urbanist"/>
              </a:rPr>
              <a:t> 400mAh 3.7V Li-Po Battery </a:t>
            </a:r>
            <a:endParaRPr/>
          </a:p>
        </p:txBody>
      </p:sp>
      <p:sp>
        <p:nvSpPr>
          <p:cNvPr id="212" name="Google Shape;212;p21"/>
          <p:cNvSpPr txBox="1"/>
          <p:nvPr/>
        </p:nvSpPr>
        <p:spPr>
          <a:xfrm>
            <a:off x="6352225" y="3916775"/>
            <a:ext cx="49053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Housing:</a:t>
            </a:r>
            <a:r>
              <a:rPr b="0" i="0" lang="en-US" sz="1500" u="none" cap="none" strike="noStrike">
                <a:solidFill>
                  <a:srgbClr val="E0E0E0"/>
                </a:solidFill>
                <a:latin typeface="Urbanist"/>
                <a:ea typeface="Urbanist"/>
                <a:cs typeface="Urbanist"/>
                <a:sym typeface="Urbanist"/>
              </a:rPr>
              <a:t> Custom 3D Printed </a:t>
            </a:r>
            <a:r>
              <a:rPr lang="en-US" sz="1500">
                <a:solidFill>
                  <a:srgbClr val="E0E0E0"/>
                </a:solidFill>
                <a:latin typeface="Urbanist"/>
                <a:ea typeface="Urbanist"/>
                <a:cs typeface="Urbanist"/>
                <a:sym typeface="Urbanist"/>
              </a:rPr>
              <a:t>PLA</a:t>
            </a:r>
            <a:r>
              <a:rPr b="0" i="0" lang="en-US" sz="1500" u="none" cap="none" strike="noStrike">
                <a:solidFill>
                  <a:srgbClr val="E0E0E0"/>
                </a:solidFill>
                <a:latin typeface="Urbanist"/>
                <a:ea typeface="Urbanist"/>
                <a:cs typeface="Urbanist"/>
                <a:sym typeface="Urbanist"/>
              </a:rPr>
              <a:t> Enclosure.</a:t>
            </a:r>
            <a:endParaRPr/>
          </a:p>
        </p:txBody>
      </p:sp>
      <p:sp>
        <p:nvSpPr>
          <p:cNvPr id="213" name="Google Shape;213;p21"/>
          <p:cNvSpPr txBox="1"/>
          <p:nvPr/>
        </p:nvSpPr>
        <p:spPr>
          <a:xfrm>
            <a:off x="571500" y="5715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900" u="none" cap="none" strike="noStrike">
                <a:solidFill>
                  <a:srgbClr val="F5F5F5"/>
                </a:solidFill>
                <a:latin typeface="Urbanist"/>
                <a:ea typeface="Urbanist"/>
                <a:cs typeface="Urbanist"/>
                <a:sym typeface="Urbanist"/>
              </a:rPr>
              <a:t>Hardware </a:t>
            </a:r>
            <a:r>
              <a:rPr b="1" i="0" lang="en-US" sz="3900" u="none" cap="none" strike="noStrike">
                <a:solidFill>
                  <a:srgbClr val="DEFF9A"/>
                </a:solidFill>
                <a:latin typeface="Urbanist"/>
                <a:ea typeface="Urbanist"/>
                <a:cs typeface="Urbanist"/>
                <a:sym typeface="Urbanist"/>
              </a:rPr>
              <a:t>Stack</a:t>
            </a:r>
            <a:endParaRPr/>
          </a:p>
        </p:txBody>
      </p:sp>
      <p:pic>
        <p:nvPicPr>
          <p:cNvPr descr="image.png" id="214" name="Google Shape;214;p21"/>
          <p:cNvPicPr preferRelativeResize="0"/>
          <p:nvPr/>
        </p:nvPicPr>
        <p:blipFill rotWithShape="1">
          <a:blip r:embed="rId3">
            <a:alphaModFix/>
          </a:blip>
          <a:srcRect b="0" l="0" r="0" t="0"/>
          <a:stretch/>
        </p:blipFill>
        <p:spPr>
          <a:xfrm>
            <a:off x="6018850" y="2216563"/>
            <a:ext cx="190500" cy="200025"/>
          </a:xfrm>
          <a:prstGeom prst="rect">
            <a:avLst/>
          </a:prstGeom>
          <a:noFill/>
          <a:ln>
            <a:noFill/>
          </a:ln>
        </p:spPr>
      </p:pic>
      <p:pic>
        <p:nvPicPr>
          <p:cNvPr descr="image.png" id="215" name="Google Shape;215;p21"/>
          <p:cNvPicPr preferRelativeResize="0"/>
          <p:nvPr/>
        </p:nvPicPr>
        <p:blipFill rotWithShape="1">
          <a:blip r:embed="rId3">
            <a:alphaModFix/>
          </a:blip>
          <a:srcRect b="0" l="0" r="0" t="0"/>
          <a:stretch/>
        </p:blipFill>
        <p:spPr>
          <a:xfrm>
            <a:off x="6018850" y="3045238"/>
            <a:ext cx="190500" cy="200025"/>
          </a:xfrm>
          <a:prstGeom prst="rect">
            <a:avLst/>
          </a:prstGeom>
          <a:noFill/>
          <a:ln>
            <a:noFill/>
          </a:ln>
        </p:spPr>
      </p:pic>
      <p:pic>
        <p:nvPicPr>
          <p:cNvPr descr="image.png" id="216" name="Google Shape;216;p21"/>
          <p:cNvPicPr preferRelativeResize="0"/>
          <p:nvPr/>
        </p:nvPicPr>
        <p:blipFill rotWithShape="1">
          <a:blip r:embed="rId3">
            <a:alphaModFix/>
          </a:blip>
          <a:srcRect b="0" l="0" r="0" t="0"/>
          <a:stretch/>
        </p:blipFill>
        <p:spPr>
          <a:xfrm>
            <a:off x="6018850" y="3478625"/>
            <a:ext cx="190500" cy="200025"/>
          </a:xfrm>
          <a:prstGeom prst="rect">
            <a:avLst/>
          </a:prstGeom>
          <a:noFill/>
          <a:ln>
            <a:noFill/>
          </a:ln>
        </p:spPr>
      </p:pic>
      <p:pic>
        <p:nvPicPr>
          <p:cNvPr descr="image.png" id="217" name="Google Shape;217;p21"/>
          <p:cNvPicPr preferRelativeResize="0"/>
          <p:nvPr/>
        </p:nvPicPr>
        <p:blipFill rotWithShape="1">
          <a:blip r:embed="rId3">
            <a:alphaModFix/>
          </a:blip>
          <a:srcRect b="0" l="0" r="0" t="0"/>
          <a:stretch/>
        </p:blipFill>
        <p:spPr>
          <a:xfrm>
            <a:off x="6018850" y="3954875"/>
            <a:ext cx="190500" cy="200025"/>
          </a:xfrm>
          <a:prstGeom prst="rect">
            <a:avLst/>
          </a:prstGeom>
          <a:noFill/>
          <a:ln>
            <a:noFill/>
          </a:ln>
        </p:spPr>
      </p:pic>
      <p:pic>
        <p:nvPicPr>
          <p:cNvPr id="218" name="Google Shape;218;p21"/>
          <p:cNvPicPr preferRelativeResize="0"/>
          <p:nvPr/>
        </p:nvPicPr>
        <p:blipFill rotWithShape="1">
          <a:blip r:embed="rId4">
            <a:alphaModFix/>
          </a:blip>
          <a:srcRect b="15554" l="10370" r="18057" t="22990"/>
          <a:stretch/>
        </p:blipFill>
        <p:spPr>
          <a:xfrm>
            <a:off x="681950" y="4191000"/>
            <a:ext cx="2337997" cy="2677101"/>
          </a:xfrm>
          <a:prstGeom prst="rect">
            <a:avLst/>
          </a:prstGeom>
          <a:noFill/>
          <a:ln>
            <a:noFill/>
          </a:ln>
        </p:spPr>
      </p:pic>
      <p:pic>
        <p:nvPicPr>
          <p:cNvPr id="219" name="Google Shape;219;p21"/>
          <p:cNvPicPr preferRelativeResize="0"/>
          <p:nvPr/>
        </p:nvPicPr>
        <p:blipFill rotWithShape="1">
          <a:blip r:embed="rId5">
            <a:alphaModFix/>
          </a:blip>
          <a:srcRect b="13739" l="30318" r="21007" t="22505"/>
          <a:stretch/>
        </p:blipFill>
        <p:spPr>
          <a:xfrm>
            <a:off x="2932050" y="1162050"/>
            <a:ext cx="1563118" cy="2729875"/>
          </a:xfrm>
          <a:prstGeom prst="rect">
            <a:avLst/>
          </a:prstGeom>
          <a:noFill/>
          <a:ln>
            <a:noFill/>
          </a:ln>
        </p:spPr>
      </p:pic>
      <p:pic>
        <p:nvPicPr>
          <p:cNvPr id="220" name="Google Shape;220;p21"/>
          <p:cNvPicPr preferRelativeResize="0"/>
          <p:nvPr/>
        </p:nvPicPr>
        <p:blipFill rotWithShape="1">
          <a:blip r:embed="rId6">
            <a:alphaModFix/>
          </a:blip>
          <a:srcRect b="49945" l="36988" r="36579" t="11022"/>
          <a:stretch/>
        </p:blipFill>
        <p:spPr>
          <a:xfrm>
            <a:off x="681950" y="1162051"/>
            <a:ext cx="1468225" cy="1884874"/>
          </a:xfrm>
          <a:prstGeom prst="rect">
            <a:avLst/>
          </a:prstGeom>
          <a:noFill/>
          <a:ln>
            <a:noFill/>
          </a:ln>
        </p:spPr>
      </p:pic>
      <p:pic>
        <p:nvPicPr>
          <p:cNvPr id="221" name="Google Shape;221;p21"/>
          <p:cNvPicPr preferRelativeResize="0"/>
          <p:nvPr/>
        </p:nvPicPr>
        <p:blipFill rotWithShape="1">
          <a:blip r:embed="rId6">
            <a:alphaModFix/>
          </a:blip>
          <a:srcRect b="3496" l="37972" r="35317" t="68531"/>
          <a:stretch/>
        </p:blipFill>
        <p:spPr>
          <a:xfrm>
            <a:off x="921638" y="2104625"/>
            <a:ext cx="988849" cy="900276"/>
          </a:xfrm>
          <a:prstGeom prst="rect">
            <a:avLst/>
          </a:prstGeom>
          <a:noFill/>
          <a:ln>
            <a:noFill/>
          </a:ln>
        </p:spPr>
      </p:pic>
      <p:pic>
        <p:nvPicPr>
          <p:cNvPr id="222" name="Google Shape;222;p21"/>
          <p:cNvPicPr preferRelativeResize="0"/>
          <p:nvPr/>
        </p:nvPicPr>
        <p:blipFill>
          <a:blip r:embed="rId7">
            <a:alphaModFix/>
          </a:blip>
          <a:stretch>
            <a:fillRect/>
          </a:stretch>
        </p:blipFill>
        <p:spPr>
          <a:xfrm>
            <a:off x="828375" y="3037850"/>
            <a:ext cx="1175377" cy="1120200"/>
          </a:xfrm>
          <a:prstGeom prst="rect">
            <a:avLst/>
          </a:prstGeom>
          <a:noFill/>
          <a:ln>
            <a:noFill/>
          </a:ln>
        </p:spPr>
      </p:pic>
      <p:sp>
        <p:nvSpPr>
          <p:cNvPr id="223" name="Google Shape;223;p21"/>
          <p:cNvSpPr/>
          <p:nvPr/>
        </p:nvSpPr>
        <p:spPr>
          <a:xfrm>
            <a:off x="1791025" y="1736025"/>
            <a:ext cx="716387" cy="2414000"/>
          </a:xfrm>
          <a:custGeom>
            <a:rect b="b" l="l" r="r" t="t"/>
            <a:pathLst>
              <a:path extrusionOk="0" h="96560" w="39281">
                <a:moveTo>
                  <a:pt x="0" y="87844"/>
                </a:moveTo>
                <a:cubicBezTo>
                  <a:pt x="7013" y="96606"/>
                  <a:pt x="28092" y="100585"/>
                  <a:pt x="33541" y="90774"/>
                </a:cubicBezTo>
                <a:cubicBezTo>
                  <a:pt x="42772" y="74155"/>
                  <a:pt x="38711" y="52577"/>
                  <a:pt x="35821" y="33787"/>
                </a:cubicBezTo>
                <a:cubicBezTo>
                  <a:pt x="34087" y="22513"/>
                  <a:pt x="36579" y="5998"/>
                  <a:pt x="26377" y="897"/>
                </a:cubicBezTo>
                <a:cubicBezTo>
                  <a:pt x="22201" y="-1191"/>
                  <a:pt x="17043" y="1223"/>
                  <a:pt x="12374" y="1223"/>
                </a:cubicBezTo>
              </a:path>
            </a:pathLst>
          </a:custGeom>
          <a:noFill/>
          <a:ln cap="flat" cmpd="sng" w="28575">
            <a:solidFill>
              <a:srgbClr val="FF0000"/>
            </a:solidFill>
            <a:prstDash val="solid"/>
            <a:round/>
            <a:headEnd len="med" w="med" type="none"/>
            <a:tailEnd len="med" w="med" type="none"/>
          </a:ln>
        </p:spPr>
      </p:sp>
      <p:sp>
        <p:nvSpPr>
          <p:cNvPr id="224" name="Google Shape;224;p21"/>
          <p:cNvSpPr/>
          <p:nvPr/>
        </p:nvSpPr>
        <p:spPr>
          <a:xfrm>
            <a:off x="1066475" y="1961975"/>
            <a:ext cx="1278201" cy="2018975"/>
          </a:xfrm>
          <a:custGeom>
            <a:rect b="b" l="l" r="r" t="t"/>
            <a:pathLst>
              <a:path extrusionOk="0" h="80759" w="54253">
                <a:moveTo>
                  <a:pt x="38751" y="0"/>
                </a:moveTo>
                <a:cubicBezTo>
                  <a:pt x="44419" y="1135"/>
                  <a:pt x="51252" y="4286"/>
                  <a:pt x="53079" y="9770"/>
                </a:cubicBezTo>
                <a:cubicBezTo>
                  <a:pt x="55584" y="17288"/>
                  <a:pt x="53079" y="25618"/>
                  <a:pt x="53079" y="33542"/>
                </a:cubicBezTo>
                <a:cubicBezTo>
                  <a:pt x="53079" y="43505"/>
                  <a:pt x="54299" y="54632"/>
                  <a:pt x="49172" y="63175"/>
                </a:cubicBezTo>
                <a:cubicBezTo>
                  <a:pt x="46929" y="66913"/>
                  <a:pt x="40989" y="60139"/>
                  <a:pt x="36797" y="58942"/>
                </a:cubicBezTo>
                <a:cubicBezTo>
                  <a:pt x="29236" y="56783"/>
                  <a:pt x="21154" y="55360"/>
                  <a:pt x="13351" y="56336"/>
                </a:cubicBezTo>
                <a:cubicBezTo>
                  <a:pt x="4145" y="57488"/>
                  <a:pt x="0" y="71481"/>
                  <a:pt x="0" y="80759"/>
                </a:cubicBezTo>
              </a:path>
            </a:pathLst>
          </a:custGeom>
          <a:noFill/>
          <a:ln cap="flat" cmpd="sng" w="38100">
            <a:solidFill>
              <a:srgbClr val="0000FF"/>
            </a:solidFill>
            <a:prstDash val="solid"/>
            <a:round/>
            <a:headEnd len="med" w="med" type="none"/>
            <a:tailEnd len="med" w="med" type="none"/>
          </a:ln>
        </p:spPr>
      </p:sp>
      <p:sp>
        <p:nvSpPr>
          <p:cNvPr id="225" name="Google Shape;225;p21"/>
          <p:cNvSpPr/>
          <p:nvPr/>
        </p:nvSpPr>
        <p:spPr>
          <a:xfrm>
            <a:off x="522728" y="1554578"/>
            <a:ext cx="885650" cy="2677100"/>
          </a:xfrm>
          <a:custGeom>
            <a:rect b="b" l="l" r="r" t="t"/>
            <a:pathLst>
              <a:path extrusionOk="0" h="107084" w="35426">
                <a:moveTo>
                  <a:pt x="35427" y="96079"/>
                </a:moveTo>
                <a:cubicBezTo>
                  <a:pt x="34451" y="99976"/>
                  <a:pt x="31530" y="103725"/>
                  <a:pt x="27937" y="105522"/>
                </a:cubicBezTo>
                <a:cubicBezTo>
                  <a:pt x="21767" y="108609"/>
                  <a:pt x="11576" y="106702"/>
                  <a:pt x="7747" y="100963"/>
                </a:cubicBezTo>
                <a:cubicBezTo>
                  <a:pt x="-5010" y="81842"/>
                  <a:pt x="1886" y="55240"/>
                  <a:pt x="1886" y="32253"/>
                </a:cubicBezTo>
                <a:cubicBezTo>
                  <a:pt x="1886" y="21326"/>
                  <a:pt x="-989" y="-3119"/>
                  <a:pt x="9376" y="340"/>
                </a:cubicBezTo>
              </a:path>
            </a:pathLst>
          </a:custGeom>
          <a:noFill/>
          <a:ln cap="flat" cmpd="sng" w="38100">
            <a:solidFill>
              <a:srgbClr val="00FF00"/>
            </a:solidFill>
            <a:prstDash val="solid"/>
            <a:round/>
            <a:headEnd len="med" w="med" type="none"/>
            <a:tailEnd len="med" w="med" type="none"/>
          </a:ln>
        </p:spPr>
      </p:sp>
      <p:sp>
        <p:nvSpPr>
          <p:cNvPr id="226" name="Google Shape;226;p21"/>
          <p:cNvSpPr txBox="1"/>
          <p:nvPr/>
        </p:nvSpPr>
        <p:spPr>
          <a:xfrm>
            <a:off x="6352225" y="2583275"/>
            <a:ext cx="49053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500">
                <a:solidFill>
                  <a:srgbClr val="E0E0E0"/>
                </a:solidFill>
                <a:latin typeface="Urbanist"/>
                <a:ea typeface="Urbanist"/>
                <a:cs typeface="Urbanist"/>
                <a:sym typeface="Urbanist"/>
              </a:rPr>
              <a:t>Camera</a:t>
            </a:r>
            <a:r>
              <a:rPr b="1" i="0" lang="en-US" sz="1500" u="none" cap="none" strike="noStrike">
                <a:solidFill>
                  <a:srgbClr val="E0E0E0"/>
                </a:solidFill>
                <a:latin typeface="Urbanist"/>
                <a:ea typeface="Urbanist"/>
                <a:cs typeface="Urbanist"/>
                <a:sym typeface="Urbanist"/>
              </a:rPr>
              <a:t>:</a:t>
            </a:r>
            <a:r>
              <a:rPr b="0" i="0" lang="en-US" sz="1500" u="none" cap="none" strike="noStrike">
                <a:solidFill>
                  <a:srgbClr val="E0E0E0"/>
                </a:solidFill>
                <a:latin typeface="Urbanist"/>
                <a:ea typeface="Urbanist"/>
                <a:cs typeface="Urbanist"/>
                <a:sym typeface="Urbanist"/>
              </a:rPr>
              <a:t> OV2640 2MP Camera Module.</a:t>
            </a:r>
            <a:endParaRPr/>
          </a:p>
        </p:txBody>
      </p:sp>
      <p:pic>
        <p:nvPicPr>
          <p:cNvPr descr="image.png" id="227" name="Google Shape;227;p21"/>
          <p:cNvPicPr preferRelativeResize="0"/>
          <p:nvPr/>
        </p:nvPicPr>
        <p:blipFill rotWithShape="1">
          <a:blip r:embed="rId3">
            <a:alphaModFix/>
          </a:blip>
          <a:srcRect b="0" l="0" r="0" t="0"/>
          <a:stretch/>
        </p:blipFill>
        <p:spPr>
          <a:xfrm>
            <a:off x="6018850" y="2621375"/>
            <a:ext cx="190500" cy="200025"/>
          </a:xfrm>
          <a:prstGeom prst="rect">
            <a:avLst/>
          </a:prstGeom>
          <a:noFill/>
          <a:ln>
            <a:noFill/>
          </a:ln>
        </p:spPr>
      </p:pic>
      <p:pic>
        <p:nvPicPr>
          <p:cNvPr id="228" name="Google Shape;228;p21"/>
          <p:cNvPicPr preferRelativeResize="0"/>
          <p:nvPr/>
        </p:nvPicPr>
        <p:blipFill rotWithShape="1">
          <a:blip r:embed="rId8">
            <a:alphaModFix/>
          </a:blip>
          <a:srcRect b="9288" l="19551" r="5192" t="0"/>
          <a:stretch/>
        </p:blipFill>
        <p:spPr>
          <a:xfrm>
            <a:off x="2932050" y="3839100"/>
            <a:ext cx="1563124" cy="3018898"/>
          </a:xfrm>
          <a:prstGeom prst="rect">
            <a:avLst/>
          </a:prstGeom>
          <a:noFill/>
          <a:ln>
            <a:noFill/>
          </a:ln>
        </p:spPr>
      </p:pic>
      <p:sp>
        <p:nvSpPr>
          <p:cNvPr id="229" name="Google Shape;229;p21"/>
          <p:cNvSpPr txBox="1"/>
          <p:nvPr/>
        </p:nvSpPr>
        <p:spPr>
          <a:xfrm>
            <a:off x="6352225" y="4335875"/>
            <a:ext cx="49053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500">
                <a:solidFill>
                  <a:srgbClr val="E0E0E0"/>
                </a:solidFill>
                <a:latin typeface="Urbanist"/>
                <a:ea typeface="Urbanist"/>
                <a:cs typeface="Urbanist"/>
                <a:sym typeface="Urbanist"/>
              </a:rPr>
              <a:t>Dimensions</a:t>
            </a:r>
            <a:r>
              <a:rPr b="1" i="0" lang="en-US" sz="1500" u="none" cap="none" strike="noStrike">
                <a:solidFill>
                  <a:srgbClr val="E0E0E0"/>
                </a:solidFill>
                <a:latin typeface="Urbanist"/>
                <a:ea typeface="Urbanist"/>
                <a:cs typeface="Urbanist"/>
                <a:sym typeface="Urbanist"/>
              </a:rPr>
              <a:t>:</a:t>
            </a:r>
            <a:r>
              <a:rPr b="0" i="0" lang="en-US" sz="1500" u="none" cap="none" strike="noStrike">
                <a:solidFill>
                  <a:srgbClr val="E0E0E0"/>
                </a:solidFill>
                <a:latin typeface="Urbanist"/>
                <a:ea typeface="Urbanist"/>
                <a:cs typeface="Urbanist"/>
                <a:sym typeface="Urbanist"/>
              </a:rPr>
              <a:t> </a:t>
            </a:r>
            <a:r>
              <a:rPr lang="en-US" sz="1500">
                <a:solidFill>
                  <a:srgbClr val="E0E0E0"/>
                </a:solidFill>
                <a:latin typeface="Urbanist"/>
                <a:ea typeface="Urbanist"/>
                <a:cs typeface="Urbanist"/>
                <a:sym typeface="Urbanist"/>
              </a:rPr>
              <a:t>24x55x17 mm</a:t>
            </a:r>
            <a:endParaRPr/>
          </a:p>
        </p:txBody>
      </p:sp>
      <p:pic>
        <p:nvPicPr>
          <p:cNvPr descr="image.png" id="230" name="Google Shape;230;p21"/>
          <p:cNvPicPr preferRelativeResize="0"/>
          <p:nvPr/>
        </p:nvPicPr>
        <p:blipFill rotWithShape="1">
          <a:blip r:embed="rId3">
            <a:alphaModFix/>
          </a:blip>
          <a:srcRect b="0" l="0" r="0" t="0"/>
          <a:stretch/>
        </p:blipFill>
        <p:spPr>
          <a:xfrm>
            <a:off x="6018850" y="4373975"/>
            <a:ext cx="190500" cy="200025"/>
          </a:xfrm>
          <a:prstGeom prst="rect">
            <a:avLst/>
          </a:prstGeom>
          <a:noFill/>
          <a:ln>
            <a:noFill/>
          </a:ln>
        </p:spPr>
      </p:pic>
      <p:sp>
        <p:nvSpPr>
          <p:cNvPr id="231" name="Google Shape;231;p21"/>
          <p:cNvSpPr txBox="1"/>
          <p:nvPr/>
        </p:nvSpPr>
        <p:spPr>
          <a:xfrm>
            <a:off x="6352225" y="4793075"/>
            <a:ext cx="49053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500">
                <a:solidFill>
                  <a:srgbClr val="E0E0E0"/>
                </a:solidFill>
                <a:latin typeface="Urbanist"/>
                <a:ea typeface="Urbanist"/>
                <a:cs typeface="Urbanist"/>
                <a:sym typeface="Urbanist"/>
              </a:rPr>
              <a:t>Cost</a:t>
            </a:r>
            <a:r>
              <a:rPr b="1" i="0" lang="en-US" sz="1500" u="none" cap="none" strike="noStrike">
                <a:solidFill>
                  <a:srgbClr val="E0E0E0"/>
                </a:solidFill>
                <a:latin typeface="Urbanist"/>
                <a:ea typeface="Urbanist"/>
                <a:cs typeface="Urbanist"/>
                <a:sym typeface="Urbanist"/>
              </a:rPr>
              <a:t>:</a:t>
            </a:r>
            <a:r>
              <a:rPr b="0" i="0" lang="en-US" sz="1500" u="none" cap="none" strike="noStrike">
                <a:solidFill>
                  <a:srgbClr val="E0E0E0"/>
                </a:solidFill>
                <a:latin typeface="Urbanist"/>
                <a:ea typeface="Urbanist"/>
                <a:cs typeface="Urbanist"/>
                <a:sym typeface="Urbanist"/>
              </a:rPr>
              <a:t> </a:t>
            </a:r>
            <a:r>
              <a:rPr lang="en-US" sz="1500">
                <a:solidFill>
                  <a:srgbClr val="E0E0E0"/>
                </a:solidFill>
                <a:latin typeface="Urbanist"/>
                <a:ea typeface="Urbanist"/>
                <a:cs typeface="Urbanist"/>
                <a:sym typeface="Urbanist"/>
              </a:rPr>
              <a:t>13+4+2+1 = 20 USD</a:t>
            </a:r>
            <a:endParaRPr/>
          </a:p>
        </p:txBody>
      </p:sp>
      <p:pic>
        <p:nvPicPr>
          <p:cNvPr descr="image.png" id="232" name="Google Shape;232;p21"/>
          <p:cNvPicPr preferRelativeResize="0"/>
          <p:nvPr/>
        </p:nvPicPr>
        <p:blipFill rotWithShape="1">
          <a:blip r:embed="rId3">
            <a:alphaModFix/>
          </a:blip>
          <a:srcRect b="0" l="0" r="0" t="0"/>
          <a:stretch/>
        </p:blipFill>
        <p:spPr>
          <a:xfrm>
            <a:off x="6018850" y="4831175"/>
            <a:ext cx="190500" cy="200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6" name="Shape 236"/>
        <p:cNvGrpSpPr/>
        <p:nvPr/>
      </p:nvGrpSpPr>
      <p:grpSpPr>
        <a:xfrm>
          <a:off x="0" y="0"/>
          <a:ext cx="0" cy="0"/>
          <a:chOff x="0" y="0"/>
          <a:chExt cx="0" cy="0"/>
        </a:xfrm>
      </p:grpSpPr>
      <p:sp>
        <p:nvSpPr>
          <p:cNvPr id="237" name="Google Shape;237;p22"/>
          <p:cNvSpPr txBox="1"/>
          <p:nvPr/>
        </p:nvSpPr>
        <p:spPr>
          <a:xfrm>
            <a:off x="0" y="3063125"/>
            <a:ext cx="5200800" cy="1200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900" u="none" cap="none" strike="noStrike">
                <a:solidFill>
                  <a:srgbClr val="F5F5F5"/>
                </a:solidFill>
                <a:latin typeface="Urbanist"/>
                <a:ea typeface="Urbanist"/>
                <a:cs typeface="Urbanist"/>
                <a:sym typeface="Urbanist"/>
              </a:rPr>
              <a:t>Real Environment </a:t>
            </a:r>
            <a:r>
              <a:rPr b="1" i="0" lang="en-US" sz="3900" u="none" cap="none" strike="noStrike">
                <a:solidFill>
                  <a:srgbClr val="DEFF9A"/>
                </a:solidFill>
                <a:latin typeface="Urbanist"/>
                <a:ea typeface="Urbanist"/>
                <a:cs typeface="Urbanist"/>
                <a:sym typeface="Urbanist"/>
              </a:rPr>
              <a:t>Testing</a:t>
            </a:r>
            <a:endParaRPr/>
          </a:p>
        </p:txBody>
      </p:sp>
      <p:sp>
        <p:nvSpPr>
          <p:cNvPr id="238" name="Google Shape;238;p22"/>
          <p:cNvSpPr txBox="1"/>
          <p:nvPr/>
        </p:nvSpPr>
        <p:spPr>
          <a:xfrm>
            <a:off x="279850" y="4589400"/>
            <a:ext cx="49530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E0E0E0"/>
                </a:solidFill>
                <a:latin typeface="Urbanist"/>
                <a:ea typeface="Urbanist"/>
                <a:cs typeface="Urbanist"/>
                <a:sym typeface="Urbanist"/>
              </a:rPr>
              <a:t>The system was deployed in a real-world scenario to validate reliability.</a:t>
            </a:r>
            <a:endParaRPr/>
          </a:p>
        </p:txBody>
      </p:sp>
      <p:sp>
        <p:nvSpPr>
          <p:cNvPr id="239" name="Google Shape;239;p22"/>
          <p:cNvSpPr txBox="1"/>
          <p:nvPr/>
        </p:nvSpPr>
        <p:spPr>
          <a:xfrm>
            <a:off x="279850" y="5541900"/>
            <a:ext cx="49530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Conditions:</a:t>
            </a:r>
            <a:r>
              <a:rPr b="0" i="0" lang="en-US" sz="1500" u="none" cap="none" strike="noStrike">
                <a:solidFill>
                  <a:srgbClr val="E0E0E0"/>
                </a:solidFill>
                <a:latin typeface="Urbanist"/>
                <a:ea typeface="Urbanist"/>
                <a:cs typeface="Urbanist"/>
                <a:sym typeface="Urbanist"/>
              </a:rPr>
              <a:t> Tested in varying lighting conditions (direct sunlight vs porch shade). The model successfully identified residents while ignoring non-human motion triggers.</a:t>
            </a:r>
            <a:endParaRPr/>
          </a:p>
        </p:txBody>
      </p:sp>
      <p:pic>
        <p:nvPicPr>
          <p:cNvPr id="240" name="Google Shape;240;p22"/>
          <p:cNvPicPr preferRelativeResize="0"/>
          <p:nvPr/>
        </p:nvPicPr>
        <p:blipFill>
          <a:blip r:embed="rId3">
            <a:alphaModFix/>
          </a:blip>
          <a:stretch>
            <a:fillRect/>
          </a:stretch>
        </p:blipFill>
        <p:spPr>
          <a:xfrm>
            <a:off x="5632900" y="126175"/>
            <a:ext cx="6362700" cy="2809656"/>
          </a:xfrm>
          <a:prstGeom prst="rect">
            <a:avLst/>
          </a:prstGeom>
          <a:noFill/>
          <a:ln>
            <a:noFill/>
          </a:ln>
        </p:spPr>
      </p:pic>
      <p:pic>
        <p:nvPicPr>
          <p:cNvPr id="241" name="Google Shape;241;p22" title="ppk-20251204T132040.png"/>
          <p:cNvPicPr preferRelativeResize="0"/>
          <p:nvPr/>
        </p:nvPicPr>
        <p:blipFill>
          <a:blip r:embed="rId4">
            <a:alphaModFix/>
          </a:blip>
          <a:stretch>
            <a:fillRect/>
          </a:stretch>
        </p:blipFill>
        <p:spPr>
          <a:xfrm>
            <a:off x="5632900" y="3024499"/>
            <a:ext cx="3127150" cy="2416524"/>
          </a:xfrm>
          <a:prstGeom prst="rect">
            <a:avLst/>
          </a:prstGeom>
          <a:noFill/>
          <a:ln>
            <a:noFill/>
          </a:ln>
        </p:spPr>
      </p:pic>
      <p:pic>
        <p:nvPicPr>
          <p:cNvPr id="242" name="Google Shape;242;p22" title="ppk-20251204T132249.png"/>
          <p:cNvPicPr preferRelativeResize="0"/>
          <p:nvPr/>
        </p:nvPicPr>
        <p:blipFill>
          <a:blip r:embed="rId5">
            <a:alphaModFix/>
          </a:blip>
          <a:stretch>
            <a:fillRect/>
          </a:stretch>
        </p:blipFill>
        <p:spPr>
          <a:xfrm>
            <a:off x="8912450" y="3058506"/>
            <a:ext cx="3127150" cy="2416505"/>
          </a:xfrm>
          <a:prstGeom prst="rect">
            <a:avLst/>
          </a:prstGeom>
          <a:noFill/>
          <a:ln>
            <a:noFill/>
          </a:ln>
        </p:spPr>
      </p:pic>
      <p:sp>
        <p:nvSpPr>
          <p:cNvPr id="243" name="Google Shape;243;p22"/>
          <p:cNvSpPr txBox="1"/>
          <p:nvPr/>
        </p:nvSpPr>
        <p:spPr>
          <a:xfrm>
            <a:off x="6267750" y="4091338"/>
            <a:ext cx="2368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FF0000"/>
                </a:solidFill>
                <a:latin typeface="Calibri"/>
                <a:ea typeface="Calibri"/>
                <a:cs typeface="Calibri"/>
                <a:sym typeface="Calibri"/>
              </a:rPr>
              <a:t>380mA Work Mode</a:t>
            </a:r>
            <a:endParaRPr sz="2000">
              <a:solidFill>
                <a:srgbClr val="FF0000"/>
              </a:solidFill>
              <a:latin typeface="Calibri"/>
              <a:ea typeface="Calibri"/>
              <a:cs typeface="Calibri"/>
              <a:sym typeface="Calibri"/>
            </a:endParaRPr>
          </a:p>
        </p:txBody>
      </p:sp>
      <p:sp>
        <p:nvSpPr>
          <p:cNvPr id="244" name="Google Shape;244;p22"/>
          <p:cNvSpPr txBox="1"/>
          <p:nvPr/>
        </p:nvSpPr>
        <p:spPr>
          <a:xfrm>
            <a:off x="9671150" y="4091338"/>
            <a:ext cx="2107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FF0000"/>
                </a:solidFill>
                <a:latin typeface="Calibri"/>
                <a:ea typeface="Calibri"/>
                <a:cs typeface="Calibri"/>
                <a:sym typeface="Calibri"/>
              </a:rPr>
              <a:t>83uA Sleep Mode</a:t>
            </a:r>
            <a:endParaRPr sz="2000">
              <a:solidFill>
                <a:srgbClr val="FF0000"/>
              </a:solidFill>
              <a:latin typeface="Calibri"/>
              <a:ea typeface="Calibri"/>
              <a:cs typeface="Calibri"/>
              <a:sym typeface="Calibri"/>
            </a:endParaRPr>
          </a:p>
        </p:txBody>
      </p:sp>
      <p:pic>
        <p:nvPicPr>
          <p:cNvPr id="245" name="Google Shape;245;p22"/>
          <p:cNvPicPr preferRelativeResize="0"/>
          <p:nvPr/>
        </p:nvPicPr>
        <p:blipFill>
          <a:blip r:embed="rId6">
            <a:alphaModFix/>
          </a:blip>
          <a:stretch>
            <a:fillRect/>
          </a:stretch>
        </p:blipFill>
        <p:spPr>
          <a:xfrm>
            <a:off x="93950" y="126175"/>
            <a:ext cx="3800998" cy="2850751"/>
          </a:xfrm>
          <a:prstGeom prst="rect">
            <a:avLst/>
          </a:prstGeom>
          <a:noFill/>
          <a:ln>
            <a:noFill/>
          </a:ln>
        </p:spPr>
      </p:pic>
      <p:sp>
        <p:nvSpPr>
          <p:cNvPr id="246" name="Google Shape;246;p22"/>
          <p:cNvSpPr txBox="1"/>
          <p:nvPr/>
        </p:nvSpPr>
        <p:spPr>
          <a:xfrm>
            <a:off x="5523700" y="5664900"/>
            <a:ext cx="6581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FF0000"/>
                </a:solidFill>
                <a:latin typeface="Calibri"/>
                <a:ea typeface="Calibri"/>
                <a:cs typeface="Calibri"/>
                <a:sym typeface="Calibri"/>
              </a:rPr>
              <a:t>400mAh battery can work for </a:t>
            </a:r>
            <a:r>
              <a:rPr b="1" lang="en-US" sz="2000">
                <a:solidFill>
                  <a:srgbClr val="00FF00"/>
                </a:solidFill>
                <a:latin typeface="Calibri"/>
                <a:ea typeface="Calibri"/>
                <a:cs typeface="Calibri"/>
                <a:sym typeface="Calibri"/>
              </a:rPr>
              <a:t>32 days</a:t>
            </a:r>
            <a:r>
              <a:rPr lang="en-US" sz="2000">
                <a:solidFill>
                  <a:srgbClr val="FF0000"/>
                </a:solidFill>
                <a:latin typeface="Calibri"/>
                <a:ea typeface="Calibri"/>
                <a:cs typeface="Calibri"/>
                <a:sym typeface="Calibri"/>
              </a:rPr>
              <a:t>, based on the assumption of 10 sec per detection, 10 times detection a day</a:t>
            </a:r>
            <a:endParaRPr sz="2000">
              <a:solidFill>
                <a:srgbClr val="FF0000"/>
              </a:solidFill>
              <a:latin typeface="Calibri"/>
              <a:ea typeface="Calibri"/>
              <a:cs typeface="Calibri"/>
              <a:sym typeface="Calibri"/>
            </a:endParaRPr>
          </a:p>
        </p:txBody>
      </p:sp>
      <p:pic>
        <p:nvPicPr>
          <p:cNvPr id="247" name="Google Shape;247;p22"/>
          <p:cNvPicPr preferRelativeResize="0"/>
          <p:nvPr/>
        </p:nvPicPr>
        <p:blipFill>
          <a:blip r:embed="rId7">
            <a:alphaModFix/>
          </a:blip>
          <a:stretch>
            <a:fillRect/>
          </a:stretch>
        </p:blipFill>
        <p:spPr>
          <a:xfrm>
            <a:off x="3964325" y="126175"/>
            <a:ext cx="1599199" cy="36594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1" name="Shape 251"/>
        <p:cNvGrpSpPr/>
        <p:nvPr/>
      </p:nvGrpSpPr>
      <p:grpSpPr>
        <a:xfrm>
          <a:off x="0" y="0"/>
          <a:ext cx="0" cy="0"/>
          <a:chOff x="0" y="0"/>
          <a:chExt cx="0" cy="0"/>
        </a:xfrm>
      </p:grpSpPr>
      <p:sp>
        <p:nvSpPr>
          <p:cNvPr id="252" name="Google Shape;252;p23"/>
          <p:cNvSpPr txBox="1"/>
          <p:nvPr/>
        </p:nvSpPr>
        <p:spPr>
          <a:xfrm>
            <a:off x="604075" y="2177325"/>
            <a:ext cx="52389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E0E0E0"/>
                </a:solidFill>
                <a:latin typeface="Urbanist"/>
                <a:ea typeface="Urbanist"/>
                <a:cs typeface="Urbanist"/>
                <a:sym typeface="Urbanist"/>
              </a:rPr>
              <a:t>The doorbell communicates with Home Assistant via the MQTT protocol over Wi-Fi.</a:t>
            </a:r>
            <a:endParaRPr/>
          </a:p>
        </p:txBody>
      </p:sp>
      <p:sp>
        <p:nvSpPr>
          <p:cNvPr id="253" name="Google Shape;253;p23"/>
          <p:cNvSpPr txBox="1"/>
          <p:nvPr/>
        </p:nvSpPr>
        <p:spPr>
          <a:xfrm>
            <a:off x="937450" y="2939325"/>
            <a:ext cx="4905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Triggers:</a:t>
            </a:r>
            <a:r>
              <a:rPr b="0" i="0" lang="en-US" sz="1500" u="none" cap="none" strike="noStrike">
                <a:solidFill>
                  <a:srgbClr val="E0E0E0"/>
                </a:solidFill>
                <a:latin typeface="Urbanist"/>
                <a:ea typeface="Urbanist"/>
                <a:cs typeface="Urbanist"/>
                <a:sym typeface="Urbanist"/>
              </a:rPr>
              <a:t> Doorbell </a:t>
            </a:r>
            <a:r>
              <a:rPr lang="en-US" sz="1500">
                <a:solidFill>
                  <a:srgbClr val="E0E0E0"/>
                </a:solidFill>
                <a:latin typeface="Urbanist"/>
                <a:ea typeface="Urbanist"/>
                <a:cs typeface="Urbanist"/>
                <a:sym typeface="Urbanist"/>
              </a:rPr>
              <a:t>camera</a:t>
            </a:r>
            <a:r>
              <a:rPr b="0" i="0" lang="en-US" sz="1500" u="none" cap="none" strike="noStrike">
                <a:solidFill>
                  <a:srgbClr val="E0E0E0"/>
                </a:solidFill>
                <a:latin typeface="Urbanist"/>
                <a:ea typeface="Urbanist"/>
                <a:cs typeface="Urbanist"/>
                <a:sym typeface="Urbanist"/>
              </a:rPr>
              <a:t> sends an instant notification to mobile devices.</a:t>
            </a:r>
            <a:endParaRPr/>
          </a:p>
        </p:txBody>
      </p:sp>
      <p:sp>
        <p:nvSpPr>
          <p:cNvPr id="254" name="Google Shape;254;p23"/>
          <p:cNvSpPr txBox="1"/>
          <p:nvPr/>
        </p:nvSpPr>
        <p:spPr>
          <a:xfrm>
            <a:off x="937450" y="3701325"/>
            <a:ext cx="4905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Automation:</a:t>
            </a:r>
            <a:r>
              <a:rPr b="0" i="0" lang="en-US" sz="1500" u="none" cap="none" strike="noStrike">
                <a:solidFill>
                  <a:srgbClr val="E0E0E0"/>
                </a:solidFill>
                <a:latin typeface="Urbanist"/>
                <a:ea typeface="Urbanist"/>
                <a:cs typeface="Urbanist"/>
                <a:sym typeface="Urbanist"/>
              </a:rPr>
              <a:t> "Person Detected" event triggers porch lights to turn on automatically.</a:t>
            </a:r>
            <a:endParaRPr/>
          </a:p>
        </p:txBody>
      </p:sp>
      <p:sp>
        <p:nvSpPr>
          <p:cNvPr id="255" name="Google Shape;255;p23"/>
          <p:cNvSpPr txBox="1"/>
          <p:nvPr/>
        </p:nvSpPr>
        <p:spPr>
          <a:xfrm>
            <a:off x="937450" y="4463325"/>
            <a:ext cx="49053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E0E0E0"/>
                </a:solidFill>
                <a:latin typeface="Urbanist"/>
                <a:ea typeface="Urbanist"/>
                <a:cs typeface="Urbanist"/>
                <a:sym typeface="Urbanist"/>
              </a:rPr>
              <a:t>Dashboard:</a:t>
            </a:r>
            <a:r>
              <a:rPr b="0" i="0" lang="en-US" sz="1500" u="none" cap="none" strike="noStrike">
                <a:solidFill>
                  <a:srgbClr val="E0E0E0"/>
                </a:solidFill>
                <a:latin typeface="Urbanist"/>
                <a:ea typeface="Urbanist"/>
                <a:cs typeface="Urbanist"/>
                <a:sym typeface="Urbanist"/>
              </a:rPr>
              <a:t> Displays last captured image and battery status.</a:t>
            </a:r>
            <a:endParaRPr/>
          </a:p>
        </p:txBody>
      </p:sp>
      <p:sp>
        <p:nvSpPr>
          <p:cNvPr id="256" name="Google Shape;256;p23"/>
          <p:cNvSpPr txBox="1"/>
          <p:nvPr/>
        </p:nvSpPr>
        <p:spPr>
          <a:xfrm>
            <a:off x="571500" y="571500"/>
            <a:ext cx="11601450"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900" u="none" cap="none" strike="noStrike">
                <a:solidFill>
                  <a:srgbClr val="F5F5F5"/>
                </a:solidFill>
                <a:latin typeface="Urbanist"/>
                <a:ea typeface="Urbanist"/>
                <a:cs typeface="Urbanist"/>
                <a:sym typeface="Urbanist"/>
              </a:rPr>
              <a:t>Home Assistant </a:t>
            </a:r>
            <a:r>
              <a:rPr b="1" i="0" lang="en-US" sz="3900" u="none" cap="none" strike="noStrike">
                <a:solidFill>
                  <a:srgbClr val="DEFF9A"/>
                </a:solidFill>
                <a:latin typeface="Urbanist"/>
                <a:ea typeface="Urbanist"/>
                <a:cs typeface="Urbanist"/>
                <a:sym typeface="Urbanist"/>
              </a:rPr>
              <a:t>Insertion</a:t>
            </a:r>
            <a:endParaRPr/>
          </a:p>
        </p:txBody>
      </p:sp>
      <p:pic>
        <p:nvPicPr>
          <p:cNvPr descr="image.png" id="257" name="Google Shape;257;p23"/>
          <p:cNvPicPr preferRelativeResize="0"/>
          <p:nvPr/>
        </p:nvPicPr>
        <p:blipFill rotWithShape="1">
          <a:blip r:embed="rId3">
            <a:alphaModFix/>
          </a:blip>
          <a:srcRect b="0" l="0" r="0" t="0"/>
          <a:stretch/>
        </p:blipFill>
        <p:spPr>
          <a:xfrm>
            <a:off x="604075" y="2977425"/>
            <a:ext cx="190500" cy="200025"/>
          </a:xfrm>
          <a:prstGeom prst="rect">
            <a:avLst/>
          </a:prstGeom>
          <a:noFill/>
          <a:ln>
            <a:noFill/>
          </a:ln>
        </p:spPr>
      </p:pic>
      <p:pic>
        <p:nvPicPr>
          <p:cNvPr descr="image.png" id="258" name="Google Shape;258;p23"/>
          <p:cNvPicPr preferRelativeResize="0"/>
          <p:nvPr/>
        </p:nvPicPr>
        <p:blipFill rotWithShape="1">
          <a:blip r:embed="rId3">
            <a:alphaModFix/>
          </a:blip>
          <a:srcRect b="0" l="0" r="0" t="0"/>
          <a:stretch/>
        </p:blipFill>
        <p:spPr>
          <a:xfrm>
            <a:off x="604075" y="3739425"/>
            <a:ext cx="190500" cy="200025"/>
          </a:xfrm>
          <a:prstGeom prst="rect">
            <a:avLst/>
          </a:prstGeom>
          <a:noFill/>
          <a:ln>
            <a:noFill/>
          </a:ln>
        </p:spPr>
      </p:pic>
      <p:pic>
        <p:nvPicPr>
          <p:cNvPr descr="image.png" id="259" name="Google Shape;259;p23"/>
          <p:cNvPicPr preferRelativeResize="0"/>
          <p:nvPr/>
        </p:nvPicPr>
        <p:blipFill rotWithShape="1">
          <a:blip r:embed="rId3">
            <a:alphaModFix/>
          </a:blip>
          <a:srcRect b="0" l="0" r="0" t="0"/>
          <a:stretch/>
        </p:blipFill>
        <p:spPr>
          <a:xfrm>
            <a:off x="604075" y="4501425"/>
            <a:ext cx="190500" cy="200025"/>
          </a:xfrm>
          <a:prstGeom prst="rect">
            <a:avLst/>
          </a:prstGeom>
          <a:noFill/>
          <a:ln>
            <a:noFill/>
          </a:ln>
        </p:spPr>
      </p:pic>
      <p:sp>
        <p:nvSpPr>
          <p:cNvPr id="260" name="Google Shape;260;p23"/>
          <p:cNvSpPr txBox="1"/>
          <p:nvPr/>
        </p:nvSpPr>
        <p:spPr>
          <a:xfrm>
            <a:off x="0" y="0"/>
            <a:ext cx="976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00FF00"/>
                </a:solidFill>
              </a:rPr>
              <a:t>See my another github:</a:t>
            </a:r>
            <a:r>
              <a:rPr b="1" lang="en-US">
                <a:solidFill>
                  <a:srgbClr val="FF9900"/>
                </a:solidFill>
              </a:rPr>
              <a:t> </a:t>
            </a:r>
            <a:r>
              <a:rPr lang="en-US" u="sng">
                <a:solidFill>
                  <a:schemeClr val="hlink"/>
                </a:solidFill>
                <a:hlinkClick r:id="rId4"/>
              </a:rPr>
              <a:t>https://github.com/Zachay-NAU/ESPHome-Support-on-Seeed-Studio-XIAO-ESP32S3</a:t>
            </a:r>
            <a:endParaRPr>
              <a:solidFill>
                <a:srgbClr val="00FF00"/>
              </a:solidFill>
            </a:endParaRPr>
          </a:p>
        </p:txBody>
      </p:sp>
      <p:pic>
        <p:nvPicPr>
          <p:cNvPr id="261" name="Google Shape;261;p23"/>
          <p:cNvPicPr preferRelativeResize="0"/>
          <p:nvPr/>
        </p:nvPicPr>
        <p:blipFill>
          <a:blip r:embed="rId5">
            <a:alphaModFix/>
          </a:blip>
          <a:stretch>
            <a:fillRect/>
          </a:stretch>
        </p:blipFill>
        <p:spPr>
          <a:xfrm>
            <a:off x="9553935" y="3858025"/>
            <a:ext cx="2619015" cy="2626550"/>
          </a:xfrm>
          <a:prstGeom prst="rect">
            <a:avLst/>
          </a:prstGeom>
          <a:noFill/>
          <a:ln>
            <a:noFill/>
          </a:ln>
        </p:spPr>
      </p:pic>
      <p:pic>
        <p:nvPicPr>
          <p:cNvPr id="262" name="Google Shape;262;p23"/>
          <p:cNvPicPr preferRelativeResize="0"/>
          <p:nvPr/>
        </p:nvPicPr>
        <p:blipFill>
          <a:blip r:embed="rId6">
            <a:alphaModFix/>
          </a:blip>
          <a:stretch>
            <a:fillRect/>
          </a:stretch>
        </p:blipFill>
        <p:spPr>
          <a:xfrm>
            <a:off x="6153225" y="645951"/>
            <a:ext cx="6019727" cy="3177400"/>
          </a:xfrm>
          <a:prstGeom prst="rect">
            <a:avLst/>
          </a:prstGeom>
          <a:noFill/>
          <a:ln>
            <a:noFill/>
          </a:ln>
        </p:spPr>
      </p:pic>
      <p:pic>
        <p:nvPicPr>
          <p:cNvPr id="263" name="Google Shape;263;p23"/>
          <p:cNvPicPr preferRelativeResize="0"/>
          <p:nvPr/>
        </p:nvPicPr>
        <p:blipFill>
          <a:blip r:embed="rId7">
            <a:alphaModFix/>
          </a:blip>
          <a:stretch>
            <a:fillRect/>
          </a:stretch>
        </p:blipFill>
        <p:spPr>
          <a:xfrm>
            <a:off x="6255675" y="3858025"/>
            <a:ext cx="3258152" cy="2626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